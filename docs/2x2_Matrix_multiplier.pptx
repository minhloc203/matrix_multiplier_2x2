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>
            <a:spLocks noGrp="1"/>
          </p:cNvSpPr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25C4DD"/>
          </a:solidFill>
          <a:ln w="0">
            <a:noFill/>
            <a:prstDash val="solid"/>
          </a:ln>
        </p:spPr>
      </p:sp>
      <p:sp>
        <p:nvSpPr>
          <p:cNvPr id="3" name="Rectangle 2"/>
          <p:cNvSpPr>
            <a:spLocks noGrp="1"/>
          </p:cNvSpPr>
          <p:nvPr/>
        </p:nvSpPr>
        <p:spPr>
          <a:xfrm>
            <a:off x="533400" y="409575"/>
            <a:ext cx="10858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2850" b="1">
                <a:solidFill>
                  <a:srgbClr val="F8FAFC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850" b="1">
                <a:solidFill>
                  <a:srgbClr val="F8FAFC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7. Proposed Verilog Design</a:t>
            </a:r>
            <a:endParaRPr sz="2850" b="1">
              <a:solidFill>
                <a:srgbClr val="F8FAFC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" name="Rectangle 3"/>
          <p:cNvSpPr>
            <a:spLocks noGrp="1"/>
          </p:cNvSpPr>
          <p:nvPr/>
        </p:nvSpPr>
        <p:spPr>
          <a:xfrm>
            <a:off x="533400" y="6572250"/>
            <a:ext cx="3143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825" b="0">
                <a:solidFill>
                  <a:srgbClr val="9BA7BA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825" b="0">
                <a:solidFill>
                  <a:srgbClr val="9BA7B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FAP 201 • FPGA Matrix Multiplier</a:t>
            </a:r>
            <a:endParaRPr sz="825" b="0">
              <a:solidFill>
                <a:srgbClr val="9BA7BA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5" name="Rectangle 4"/>
          <p:cNvSpPr>
            <a:spLocks noGrp="1"/>
          </p:cNvSpPr>
          <p:nvPr/>
        </p:nvSpPr>
        <p:spPr>
          <a:xfrm>
            <a:off x="11334750" y="6572250"/>
            <a:ext cx="38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r">
              <a:lnSpc>
                <a:spcPct val="100000"/>
              </a:lnSpc>
              <a:buNone/>
              <a:defRPr sz="825" b="0">
                <a:solidFill>
                  <a:srgbClr val="9BA7BA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825" b="0">
                <a:solidFill>
                  <a:srgbClr val="9BA7B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09</a:t>
            </a:r>
            <a:endParaRPr sz="825" b="0">
              <a:solidFill>
                <a:srgbClr val="9BA7BA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" name="Rounded Rectangle 5"/>
          <p:cNvSpPr>
            <a:spLocks noGrp="1"/>
          </p:cNvSpPr>
          <p:nvPr/>
        </p:nvSpPr>
        <p:spPr>
          <a:xfrm>
            <a:off x="857250" y="1257300"/>
            <a:ext cx="2038350" cy="419100"/>
          </a:xfrm>
          <a:prstGeom prst="roundRect">
            <a:avLst>
              <a:gd name="adj" fmla="val 6818"/>
            </a:avLst>
          </a:prstGeom>
          <a:solidFill>
            <a:srgbClr val="1B2739"/>
          </a:solidFill>
          <a:ln w="19050">
            <a:solidFill>
              <a:srgbClr val="25C4DD"/>
            </a:solidFill>
            <a:prstDash val="solid"/>
          </a:ln>
        </p:spPr>
      </p:sp>
      <p:sp>
        <p:nvSpPr>
          <p:cNvPr id="7" name="Rectangle 6"/>
          <p:cNvSpPr>
            <a:spLocks noGrp="1"/>
          </p:cNvSpPr>
          <p:nvPr/>
        </p:nvSpPr>
        <p:spPr>
          <a:xfrm>
            <a:off x="895350" y="1285875"/>
            <a:ext cx="19621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725" b="1">
                <a:solidFill>
                  <a:srgbClr val="E6E9E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725" b="1">
                <a:solidFill>
                  <a:srgbClr val="E6E9E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matrix_mult_2x2</a:t>
            </a:r>
            <a:endParaRPr sz="1725" b="1">
              <a:solidFill>
                <a:srgbClr val="E6E9E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8" name="Right Arrow 7"/>
          <p:cNvSpPr>
            <a:spLocks noGrp="1"/>
          </p:cNvSpPr>
          <p:nvPr/>
        </p:nvSpPr>
        <p:spPr>
          <a:xfrm>
            <a:off x="3000375" y="1390650"/>
            <a:ext cx="933450" cy="142875"/>
          </a:xfrm>
          <a:prstGeom prst="rightArrow">
            <a:avLst/>
          </a:prstGeom>
          <a:solidFill>
            <a:srgbClr val="25C4DD"/>
          </a:solidFill>
          <a:ln w="0">
            <a:solidFill>
              <a:srgbClr val="25C4DD"/>
            </a:solidFill>
            <a:prstDash val="solid"/>
          </a:ln>
        </p:spPr>
      </p:sp>
      <p:sp>
        <p:nvSpPr>
          <p:cNvPr id="9" name="Rounded Rectangle 8"/>
          <p:cNvSpPr>
            <a:spLocks noGrp="1"/>
          </p:cNvSpPr>
          <p:nvPr/>
        </p:nvSpPr>
        <p:spPr>
          <a:xfrm>
            <a:off x="4057650" y="1257300"/>
            <a:ext cx="1428750" cy="419100"/>
          </a:xfrm>
          <a:prstGeom prst="roundRect">
            <a:avLst>
              <a:gd name="adj" fmla="val 6818"/>
            </a:avLst>
          </a:prstGeom>
          <a:solidFill>
            <a:srgbClr val="1B2739"/>
          </a:solidFill>
          <a:ln w="19050">
            <a:solidFill>
              <a:srgbClr val="25C4DD"/>
            </a:solidFill>
            <a:prstDash val="solid"/>
          </a:ln>
        </p:spPr>
      </p:sp>
      <p:sp>
        <p:nvSpPr>
          <p:cNvPr id="10" name="Rectangle 9"/>
          <p:cNvSpPr>
            <a:spLocks noGrp="1"/>
          </p:cNvSpPr>
          <p:nvPr/>
        </p:nvSpPr>
        <p:spPr>
          <a:xfrm>
            <a:off x="4095750" y="1285875"/>
            <a:ext cx="13525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650" b="1">
                <a:solidFill>
                  <a:srgbClr val="E6E9E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650" b="1">
                <a:solidFill>
                  <a:srgbClr val="E6E9E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pe_mac</a:t>
            </a:r>
            <a:endParaRPr sz="1650" b="1">
              <a:solidFill>
                <a:srgbClr val="E6E9E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1" name="Right Arrow 10"/>
          <p:cNvSpPr>
            <a:spLocks noGrp="1"/>
          </p:cNvSpPr>
          <p:nvPr/>
        </p:nvSpPr>
        <p:spPr>
          <a:xfrm>
            <a:off x="5619750" y="1390650"/>
            <a:ext cx="933450" cy="142875"/>
          </a:xfrm>
          <a:prstGeom prst="rightArrow">
            <a:avLst/>
          </a:prstGeom>
          <a:solidFill>
            <a:srgbClr val="25C4DD"/>
          </a:solidFill>
          <a:ln w="0">
            <a:solidFill>
              <a:srgbClr val="25C4DD"/>
            </a:solidFill>
            <a:prstDash val="solid"/>
          </a:ln>
        </p:spPr>
      </p:sp>
      <p:sp>
        <p:nvSpPr>
          <p:cNvPr id="12" name="Rounded Rectangle 11"/>
          <p:cNvSpPr>
            <a:spLocks noGrp="1"/>
          </p:cNvSpPr>
          <p:nvPr/>
        </p:nvSpPr>
        <p:spPr>
          <a:xfrm>
            <a:off x="6667500" y="1257300"/>
            <a:ext cx="1428750" cy="419100"/>
          </a:xfrm>
          <a:prstGeom prst="roundRect">
            <a:avLst>
              <a:gd name="adj" fmla="val 6818"/>
            </a:avLst>
          </a:prstGeom>
          <a:solidFill>
            <a:srgbClr val="1B2739"/>
          </a:solidFill>
          <a:ln w="19050">
            <a:solidFill>
              <a:srgbClr val="38D6A2"/>
            </a:solidFill>
            <a:prstDash val="solid"/>
          </a:ln>
        </p:spPr>
      </p:sp>
      <p:sp>
        <p:nvSpPr>
          <p:cNvPr id="13" name="Rectangle 12"/>
          <p:cNvSpPr>
            <a:spLocks noGrp="1"/>
          </p:cNvSpPr>
          <p:nvPr/>
        </p:nvSpPr>
        <p:spPr>
          <a:xfrm>
            <a:off x="6705600" y="1285875"/>
            <a:ext cx="13525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650" b="1">
                <a:solidFill>
                  <a:srgbClr val="E6E9E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650" b="1">
                <a:solidFill>
                  <a:srgbClr val="E6E9E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out_regs</a:t>
            </a:r>
            <a:endParaRPr sz="1650" b="1">
              <a:solidFill>
                <a:srgbClr val="E6E9E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4" name="Rectangle 13"/>
          <p:cNvSpPr>
            <a:spLocks noGrp="1"/>
          </p:cNvSpPr>
          <p:nvPr/>
        </p:nvSpPr>
        <p:spPr>
          <a:xfrm>
            <a:off x="857250" y="2114550"/>
            <a:ext cx="1619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275" b="0">
                <a:solidFill>
                  <a:srgbClr val="25C4DD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0">
                <a:solidFill>
                  <a:srgbClr val="25C4DD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clk, rst_n</a:t>
            </a:r>
            <a:endParaRPr sz="1275" b="0">
              <a:solidFill>
                <a:srgbClr val="25C4DD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5" name="Rectangle 14"/>
          <p:cNvSpPr>
            <a:spLocks noGrp="1"/>
          </p:cNvSpPr>
          <p:nvPr/>
        </p:nvSpPr>
        <p:spPr>
          <a:xfrm>
            <a:off x="857250" y="2533650"/>
            <a:ext cx="1619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275" b="0">
                <a:solidFill>
                  <a:srgbClr val="25C4DD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0">
                <a:solidFill>
                  <a:srgbClr val="25C4DD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start</a:t>
            </a:r>
            <a:endParaRPr sz="1275" b="0">
              <a:solidFill>
                <a:srgbClr val="25C4DD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6" name="Rectangle 15"/>
          <p:cNvSpPr>
            <a:spLocks noGrp="1"/>
          </p:cNvSpPr>
          <p:nvPr/>
        </p:nvSpPr>
        <p:spPr>
          <a:xfrm>
            <a:off x="857250" y="2952750"/>
            <a:ext cx="180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275" b="0">
                <a:solidFill>
                  <a:srgbClr val="25C4DD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0">
                <a:solidFill>
                  <a:srgbClr val="25C4DD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signed [7:0] A/B</a:t>
            </a:r>
            <a:endParaRPr sz="1275" b="0">
              <a:solidFill>
                <a:srgbClr val="25C4DD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7" name="Rectangle 16"/>
          <p:cNvSpPr>
            <a:spLocks noGrp="1"/>
          </p:cNvSpPr>
          <p:nvPr/>
        </p:nvSpPr>
        <p:spPr>
          <a:xfrm>
            <a:off x="857250" y="3371850"/>
            <a:ext cx="180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275" b="0">
                <a:solidFill>
                  <a:srgbClr val="38D6A2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0">
                <a:solidFill>
                  <a:srgbClr val="38D6A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signed [16:0] C</a:t>
            </a:r>
            <a:endParaRPr sz="1275" b="0">
              <a:solidFill>
                <a:srgbClr val="38D6A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8" name="Rectangle 17"/>
          <p:cNvSpPr>
            <a:spLocks noGrp="1"/>
          </p:cNvSpPr>
          <p:nvPr/>
        </p:nvSpPr>
        <p:spPr>
          <a:xfrm>
            <a:off x="857250" y="3790950"/>
            <a:ext cx="180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275" b="0">
                <a:solidFill>
                  <a:srgbClr val="38D6A2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0">
                <a:solidFill>
                  <a:srgbClr val="38D6A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done / valid</a:t>
            </a:r>
            <a:endParaRPr sz="1275" b="0">
              <a:solidFill>
                <a:srgbClr val="38D6A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9" name="Rectangle 18"/>
          <p:cNvSpPr>
            <a:spLocks noGrp="1"/>
          </p:cNvSpPr>
          <p:nvPr/>
        </p:nvSpPr>
        <p:spPr>
          <a:xfrm>
            <a:off x="3476625" y="2057400"/>
            <a:ext cx="2952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500" b="1">
                <a:solidFill>
                  <a:srgbClr val="F8FAFC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00" b="1">
                <a:solidFill>
                  <a:srgbClr val="F8FAFC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Core Column Processing</a:t>
            </a:r>
            <a:endParaRPr sz="1500" b="1">
              <a:solidFill>
                <a:srgbClr val="F8FAFC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0" name="Rounded Rectangle 19"/>
          <p:cNvSpPr>
            <a:spLocks noGrp="1"/>
          </p:cNvSpPr>
          <p:nvPr/>
        </p:nvSpPr>
        <p:spPr>
          <a:xfrm>
            <a:off x="3476625" y="2476500"/>
            <a:ext cx="4095750" cy="914400"/>
          </a:xfrm>
          <a:prstGeom prst="roundRect">
            <a:avLst>
              <a:gd name="adj" fmla="val 4167"/>
            </a:avLst>
          </a:prstGeom>
          <a:solidFill>
            <a:srgbClr val="111318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21" name="Rounded Rectangle 20"/>
          <p:cNvSpPr>
            <a:spLocks noGrp="1"/>
          </p:cNvSpPr>
          <p:nvPr/>
        </p:nvSpPr>
        <p:spPr>
          <a:xfrm>
            <a:off x="3476625" y="2476500"/>
            <a:ext cx="4095750" cy="247650"/>
          </a:xfrm>
          <a:prstGeom prst="roundRect">
            <a:avLst>
              <a:gd name="adj" fmla="val 15385"/>
            </a:avLst>
          </a:prstGeom>
          <a:solidFill>
            <a:srgbClr val="1B2739"/>
          </a:solidFill>
          <a:ln w="0">
            <a:solidFill>
              <a:srgbClr val="334155"/>
            </a:solidFill>
            <a:prstDash val="solid"/>
          </a:ln>
        </p:spPr>
      </p:sp>
      <p:sp>
        <p:nvSpPr>
          <p:cNvPr id="22" name="Rectangle 21"/>
          <p:cNvSpPr>
            <a:spLocks noGrp="1"/>
          </p:cNvSpPr>
          <p:nvPr/>
        </p:nvSpPr>
        <p:spPr>
          <a:xfrm>
            <a:off x="3571875" y="2505075"/>
            <a:ext cx="3905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00" b="1">
                <a:solidFill>
                  <a:srgbClr val="25C4DD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00" b="1">
                <a:solidFill>
                  <a:srgbClr val="25C4DD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Multiply–Accumulate</a:t>
            </a:r>
            <a:endParaRPr sz="900" b="1">
              <a:solidFill>
                <a:srgbClr val="25C4DD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3" name="Rectangle 22"/>
          <p:cNvSpPr>
            <a:spLocks noGrp="1"/>
          </p:cNvSpPr>
          <p:nvPr/>
        </p:nvSpPr>
        <p:spPr>
          <a:xfrm>
            <a:off x="3590925" y="2771775"/>
            <a:ext cx="3867150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97887" lnSpcReduction="10000"/>
          </a:bodyPr>
          <a:lstStyle/>
          <a:p>
            <a:pPr algn="l">
              <a:lnSpc>
                <a:spcPct val="94000"/>
              </a:lnSpc>
              <a:buNone/>
              <a:defRPr sz="1200" b="0">
                <a:solidFill>
                  <a:srgbClr val="E6E9EF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defRPr>
            </a:pPr>
            <a:r>
              <a:rPr sz="1200" b="0">
                <a:solidFill>
                  <a:srgbClr val="E6E9EF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always @(posedge clk)</a:t>
            </a:r>
            <a:endParaRPr sz="1200" b="0">
              <a:solidFill>
                <a:srgbClr val="E6E9EF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  <a:p>
            <a:pPr algn="l">
              <a:lnSpc>
                <a:spcPct val="94000"/>
              </a:lnSpc>
              <a:buNone/>
              <a:defRPr sz="1200" b="0">
                <a:solidFill>
                  <a:srgbClr val="E6E9EF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defRPr>
            </a:pPr>
            <a:r>
              <a:rPr sz="1200" b="0">
                <a:solidFill>
                  <a:srgbClr val="E6E9EF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  acc &lt;= acc + a_in * b_in;</a:t>
            </a:r>
            <a:endParaRPr sz="1200" b="0">
              <a:solidFill>
                <a:srgbClr val="E6E9EF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  <a:p>
            <a:pPr algn="l">
              <a:lnSpc>
                <a:spcPct val="94000"/>
              </a:lnSpc>
              <a:buNone/>
              <a:defRPr sz="1200" b="0">
                <a:solidFill>
                  <a:srgbClr val="E6E9EF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defRPr>
            </a:pPr>
            <a:r>
              <a:rPr sz="1200" b="0">
                <a:solidFill>
                  <a:srgbClr val="E6E9EF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// After 2 MAC cycles: c_out &lt;= acc</a:t>
            </a:r>
            <a:endParaRPr sz="1200" b="0">
              <a:solidFill>
                <a:srgbClr val="E6E9EF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4" name="Rectangle 23"/>
          <p:cNvSpPr>
            <a:spLocks noGrp="1"/>
          </p:cNvSpPr>
          <p:nvPr/>
        </p:nvSpPr>
        <p:spPr>
          <a:xfrm>
            <a:off x="857250" y="4552950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500" b="1">
                <a:solidFill>
                  <a:srgbClr val="F8FAFC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00" b="1">
                <a:solidFill>
                  <a:srgbClr val="F8FAFC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Suggested File Structure</a:t>
            </a:r>
            <a:endParaRPr sz="1500" b="1">
              <a:solidFill>
                <a:srgbClr val="F8FAFC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5" name="Rounded Rectangle 24"/>
          <p:cNvSpPr>
            <a:spLocks noGrp="1"/>
          </p:cNvSpPr>
          <p:nvPr/>
        </p:nvSpPr>
        <p:spPr>
          <a:xfrm>
            <a:off x="857250" y="4895850"/>
            <a:ext cx="3857625" cy="1066800"/>
          </a:xfrm>
          <a:prstGeom prst="roundRect">
            <a:avLst>
              <a:gd name="adj" fmla="val 3571"/>
            </a:avLst>
          </a:prstGeom>
          <a:solidFill>
            <a:srgbClr val="111318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26" name="Rounded Rectangle 25"/>
          <p:cNvSpPr>
            <a:spLocks noGrp="1"/>
          </p:cNvSpPr>
          <p:nvPr/>
        </p:nvSpPr>
        <p:spPr>
          <a:xfrm>
            <a:off x="857250" y="4895850"/>
            <a:ext cx="3857625" cy="247650"/>
          </a:xfrm>
          <a:prstGeom prst="roundRect">
            <a:avLst>
              <a:gd name="adj" fmla="val 15385"/>
            </a:avLst>
          </a:prstGeom>
          <a:solidFill>
            <a:srgbClr val="1B2739"/>
          </a:solidFill>
          <a:ln w="0">
            <a:solidFill>
              <a:srgbClr val="334155"/>
            </a:solidFill>
            <a:prstDash val="solid"/>
          </a:ln>
        </p:spPr>
      </p:sp>
      <p:sp>
        <p:nvSpPr>
          <p:cNvPr id="27" name="Rectangle 26"/>
          <p:cNvSpPr>
            <a:spLocks noGrp="1"/>
          </p:cNvSpPr>
          <p:nvPr/>
        </p:nvSpPr>
        <p:spPr>
          <a:xfrm>
            <a:off x="952500" y="4924425"/>
            <a:ext cx="36671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00" b="1">
                <a:solidFill>
                  <a:srgbClr val="9BA7BA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00" b="1">
                <a:solidFill>
                  <a:srgbClr val="9BA7B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PROJECT TREE</a:t>
            </a:r>
            <a:endParaRPr sz="900" b="1">
              <a:solidFill>
                <a:srgbClr val="9BA7BA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8" name="Rectangle 27"/>
          <p:cNvSpPr>
            <a:spLocks noGrp="1"/>
          </p:cNvSpPr>
          <p:nvPr/>
        </p:nvSpPr>
        <p:spPr>
          <a:xfrm>
            <a:off x="971550" y="5191125"/>
            <a:ext cx="3629025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57967"/>
          </a:bodyPr>
          <a:lstStyle/>
          <a:p>
            <a:pPr algn="l">
              <a:lnSpc>
                <a:spcPct val="94000"/>
              </a:lnSpc>
              <a:buNone/>
              <a:defRPr sz="1125" b="0">
                <a:solidFill>
                  <a:srgbClr val="E6E9EF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defRPr>
            </a:pPr>
            <a:r>
              <a:rPr sz="1125" b="0">
                <a:solidFill>
                  <a:srgbClr val="E6E9EF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src/</a:t>
            </a:r>
            <a:endParaRPr sz="1125" b="0">
              <a:solidFill>
                <a:srgbClr val="E6E9EF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  <a:p>
            <a:pPr algn="l">
              <a:lnSpc>
                <a:spcPct val="94000"/>
              </a:lnSpc>
              <a:buNone/>
              <a:defRPr sz="1125" b="0">
                <a:solidFill>
                  <a:srgbClr val="E6E9EF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defRPr>
            </a:pPr>
            <a:r>
              <a:rPr sz="1125" b="0">
                <a:solidFill>
                  <a:srgbClr val="E6E9EF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  pe_mac.v</a:t>
            </a:r>
            <a:endParaRPr sz="1125" b="0">
              <a:solidFill>
                <a:srgbClr val="E6E9EF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  <a:p>
            <a:pPr algn="l">
              <a:lnSpc>
                <a:spcPct val="94000"/>
              </a:lnSpc>
              <a:buNone/>
              <a:defRPr sz="1125" b="0">
                <a:solidFill>
                  <a:srgbClr val="E6E9EF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defRPr>
            </a:pPr>
            <a:r>
              <a:rPr sz="1125" b="0">
                <a:solidFill>
                  <a:srgbClr val="E6E9EF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  matrix_mult_2x2.v</a:t>
            </a:r>
            <a:endParaRPr sz="1125" b="0">
              <a:solidFill>
                <a:srgbClr val="E6E9EF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  <a:p>
            <a:pPr algn="l">
              <a:lnSpc>
                <a:spcPct val="94000"/>
              </a:lnSpc>
              <a:buNone/>
              <a:defRPr sz="1125" b="0">
                <a:solidFill>
                  <a:srgbClr val="E6E9EF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defRPr>
            </a:pPr>
            <a:r>
              <a:rPr sz="1125" b="0">
                <a:solidFill>
                  <a:srgbClr val="E6E9EF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sim/</a:t>
            </a:r>
            <a:endParaRPr sz="1125" b="0">
              <a:solidFill>
                <a:srgbClr val="E6E9EF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  <a:p>
            <a:pPr algn="l">
              <a:lnSpc>
                <a:spcPct val="94000"/>
              </a:lnSpc>
              <a:buNone/>
              <a:defRPr sz="1125" b="0">
                <a:solidFill>
                  <a:srgbClr val="E6E9EF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defRPr>
            </a:pPr>
            <a:r>
              <a:rPr sz="1125" b="0">
                <a:solidFill>
                  <a:srgbClr val="E6E9EF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  tb_matrix_mult_2x2.v</a:t>
            </a:r>
            <a:endParaRPr sz="1125" b="0">
              <a:solidFill>
                <a:srgbClr val="E6E9EF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  <a:p>
            <a:pPr algn="l">
              <a:lnSpc>
                <a:spcPct val="94000"/>
              </a:lnSpc>
              <a:buNone/>
              <a:defRPr sz="1125" b="0">
                <a:solidFill>
                  <a:srgbClr val="E6E9EF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defRPr>
            </a:pPr>
            <a:r>
              <a:rPr sz="1125" b="0">
                <a:solidFill>
                  <a:srgbClr val="E6E9EF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  gen_vectors.py</a:t>
            </a:r>
            <a:endParaRPr sz="1125" b="0">
              <a:solidFill>
                <a:srgbClr val="E6E9EF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33" name="Rectangle 32"/>
          <p:cNvSpPr>
            <a:spLocks noGrp="1"/>
          </p:cNvSpPr>
          <p:nvPr/>
        </p:nvSpPr>
        <p:spPr>
          <a:xfrm>
            <a:off x="5143500" y="5095875"/>
            <a:ext cx="6238875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350" b="0">
                <a:solidFill>
                  <a:srgbClr val="E6E9E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50" b="0">
                <a:solidFill>
                  <a:srgbClr val="E6E9E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Add screenshots of the main RTL, project structure, or a successful terminal build.</a:t>
            </a:r>
            <a:endParaRPr sz="1350" b="0">
              <a:solidFill>
                <a:srgbClr val="E6E9E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pic>
        <p:nvPicPr>
          <p:cNvPr id="34" name="Picture 3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44678" y="1125149"/>
            <a:ext cx="3100823" cy="36851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>
            <a:spLocks noGrp="1"/>
          </p:cNvSpPr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25C4DD"/>
          </a:solidFill>
          <a:ln w="0">
            <a:noFill/>
            <a:prstDash val="solid"/>
          </a:ln>
        </p:spPr>
      </p:sp>
      <p:sp>
        <p:nvSpPr>
          <p:cNvPr id="3" name="Rectangle 2"/>
          <p:cNvSpPr>
            <a:spLocks noGrp="1"/>
          </p:cNvSpPr>
          <p:nvPr/>
        </p:nvSpPr>
        <p:spPr>
          <a:xfrm>
            <a:off x="533400" y="409575"/>
            <a:ext cx="10858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2850" b="1">
                <a:solidFill>
                  <a:srgbClr val="F8FAFC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850" b="1">
                <a:solidFill>
                  <a:srgbClr val="F8FAFC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8. Testbench and Python Verification</a:t>
            </a:r>
            <a:endParaRPr sz="2850" b="1">
              <a:solidFill>
                <a:srgbClr val="F8FAFC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" name="Rectangle 3"/>
          <p:cNvSpPr>
            <a:spLocks noGrp="1"/>
          </p:cNvSpPr>
          <p:nvPr/>
        </p:nvSpPr>
        <p:spPr>
          <a:xfrm>
            <a:off x="533400" y="6572250"/>
            <a:ext cx="3143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825" b="0">
                <a:solidFill>
                  <a:srgbClr val="9BA7BA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825" b="0">
                <a:solidFill>
                  <a:srgbClr val="9BA7B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FAP 201 • FPGA Matrix Multiplier</a:t>
            </a:r>
            <a:endParaRPr sz="825" b="0">
              <a:solidFill>
                <a:srgbClr val="9BA7BA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5" name="Rectangle 4"/>
          <p:cNvSpPr>
            <a:spLocks noGrp="1"/>
          </p:cNvSpPr>
          <p:nvPr/>
        </p:nvSpPr>
        <p:spPr>
          <a:xfrm>
            <a:off x="11334750" y="6572250"/>
            <a:ext cx="38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r">
              <a:lnSpc>
                <a:spcPct val="100000"/>
              </a:lnSpc>
              <a:buNone/>
              <a:defRPr sz="825" b="0">
                <a:solidFill>
                  <a:srgbClr val="9BA7BA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825" b="0">
                <a:solidFill>
                  <a:srgbClr val="9BA7B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10</a:t>
            </a:r>
            <a:endParaRPr sz="825" b="0">
              <a:solidFill>
                <a:srgbClr val="9BA7BA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" name="Rounded Rectangle 5"/>
          <p:cNvSpPr>
            <a:spLocks noGrp="1"/>
          </p:cNvSpPr>
          <p:nvPr/>
        </p:nvSpPr>
        <p:spPr>
          <a:xfrm>
            <a:off x="723900" y="1352550"/>
            <a:ext cx="1619250" cy="685800"/>
          </a:xfrm>
          <a:prstGeom prst="roundRect">
            <a:avLst>
              <a:gd name="adj" fmla="val 4167"/>
            </a:avLst>
          </a:prstGeom>
          <a:solidFill>
            <a:srgbClr val="1B2739"/>
          </a:solidFill>
          <a:ln w="19050">
            <a:solidFill>
              <a:srgbClr val="38D6A2"/>
            </a:solidFill>
            <a:prstDash val="solid"/>
          </a:ln>
        </p:spPr>
      </p:sp>
      <p:sp>
        <p:nvSpPr>
          <p:cNvPr id="7" name="Rectangle 6"/>
          <p:cNvSpPr>
            <a:spLocks noGrp="1"/>
          </p:cNvSpPr>
          <p:nvPr/>
        </p:nvSpPr>
        <p:spPr>
          <a:xfrm>
            <a:off x="762000" y="1381125"/>
            <a:ext cx="15430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350" b="1">
                <a:solidFill>
                  <a:srgbClr val="E6E9E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50" b="1">
                <a:solidFill>
                  <a:srgbClr val="E6E9E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Python</a:t>
            </a:r>
            <a:endParaRPr sz="1350" b="1">
              <a:solidFill>
                <a:srgbClr val="E6E9E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ctr">
              <a:lnSpc>
                <a:spcPct val="100000"/>
              </a:lnSpc>
              <a:buNone/>
              <a:defRPr sz="1350" b="1">
                <a:solidFill>
                  <a:srgbClr val="E6E9E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50" b="1">
                <a:solidFill>
                  <a:srgbClr val="E6E9E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gen_vectors.py</a:t>
            </a:r>
            <a:endParaRPr sz="1350" b="1">
              <a:solidFill>
                <a:srgbClr val="E6E9E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8" name="Right Arrow 7"/>
          <p:cNvSpPr>
            <a:spLocks noGrp="1"/>
          </p:cNvSpPr>
          <p:nvPr/>
        </p:nvSpPr>
        <p:spPr>
          <a:xfrm>
            <a:off x="2476500" y="1600200"/>
            <a:ext cx="895350" cy="133350"/>
          </a:xfrm>
          <a:prstGeom prst="rightArrow">
            <a:avLst/>
          </a:prstGeom>
          <a:solidFill>
            <a:srgbClr val="38D6A2"/>
          </a:solidFill>
          <a:ln w="0">
            <a:solidFill>
              <a:srgbClr val="38D6A2"/>
            </a:solidFill>
            <a:prstDash val="solid"/>
          </a:ln>
        </p:spPr>
      </p:sp>
      <p:sp>
        <p:nvSpPr>
          <p:cNvPr id="9" name="Rounded Rectangle 8"/>
          <p:cNvSpPr>
            <a:spLocks noGrp="1"/>
          </p:cNvSpPr>
          <p:nvPr/>
        </p:nvSpPr>
        <p:spPr>
          <a:xfrm>
            <a:off x="3486150" y="1352550"/>
            <a:ext cx="1619250" cy="685800"/>
          </a:xfrm>
          <a:prstGeom prst="roundRect">
            <a:avLst>
              <a:gd name="adj" fmla="val 4167"/>
            </a:avLst>
          </a:prstGeom>
          <a:solidFill>
            <a:srgbClr val="1B2739"/>
          </a:solidFill>
          <a:ln w="19050">
            <a:solidFill>
              <a:srgbClr val="25C4DD"/>
            </a:solidFill>
            <a:prstDash val="solid"/>
          </a:ln>
        </p:spPr>
      </p:sp>
      <p:sp>
        <p:nvSpPr>
          <p:cNvPr id="10" name="Rectangle 9"/>
          <p:cNvSpPr>
            <a:spLocks noGrp="1"/>
          </p:cNvSpPr>
          <p:nvPr/>
        </p:nvSpPr>
        <p:spPr>
          <a:xfrm>
            <a:off x="3524250" y="1381125"/>
            <a:ext cx="15430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350" b="1">
                <a:solidFill>
                  <a:srgbClr val="E6E9E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50" b="1">
                <a:solidFill>
                  <a:srgbClr val="E6E9E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Verilog</a:t>
            </a:r>
            <a:endParaRPr sz="1350" b="1">
              <a:solidFill>
                <a:srgbClr val="E6E9E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ctr">
              <a:lnSpc>
                <a:spcPct val="100000"/>
              </a:lnSpc>
              <a:buNone/>
              <a:defRPr sz="1350" b="1">
                <a:solidFill>
                  <a:srgbClr val="E6E9E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50" b="1">
                <a:solidFill>
                  <a:srgbClr val="E6E9E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Testbench</a:t>
            </a:r>
            <a:endParaRPr sz="1350" b="1">
              <a:solidFill>
                <a:srgbClr val="E6E9E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1" name="Right Arrow 10"/>
          <p:cNvSpPr>
            <a:spLocks noGrp="1"/>
          </p:cNvSpPr>
          <p:nvPr/>
        </p:nvSpPr>
        <p:spPr>
          <a:xfrm>
            <a:off x="5238750" y="1600200"/>
            <a:ext cx="895350" cy="133350"/>
          </a:xfrm>
          <a:prstGeom prst="rightArrow">
            <a:avLst/>
          </a:prstGeom>
          <a:solidFill>
            <a:srgbClr val="25C4DD"/>
          </a:solidFill>
          <a:ln w="0">
            <a:solidFill>
              <a:srgbClr val="25C4DD"/>
            </a:solidFill>
            <a:prstDash val="solid"/>
          </a:ln>
        </p:spPr>
      </p:sp>
      <p:sp>
        <p:nvSpPr>
          <p:cNvPr id="12" name="Rounded Rectangle 11"/>
          <p:cNvSpPr>
            <a:spLocks noGrp="1"/>
          </p:cNvSpPr>
          <p:nvPr/>
        </p:nvSpPr>
        <p:spPr>
          <a:xfrm>
            <a:off x="6248400" y="1352550"/>
            <a:ext cx="1619250" cy="685800"/>
          </a:xfrm>
          <a:prstGeom prst="roundRect">
            <a:avLst>
              <a:gd name="adj" fmla="val 4167"/>
            </a:avLst>
          </a:prstGeom>
          <a:solidFill>
            <a:srgbClr val="1B2739"/>
          </a:solidFill>
          <a:ln w="19050">
            <a:solidFill>
              <a:srgbClr val="FFBD2E"/>
            </a:solidFill>
            <a:prstDash val="solid"/>
          </a:ln>
        </p:spPr>
      </p:sp>
      <p:sp>
        <p:nvSpPr>
          <p:cNvPr id="13" name="Rectangle 12"/>
          <p:cNvSpPr>
            <a:spLocks noGrp="1"/>
          </p:cNvSpPr>
          <p:nvPr/>
        </p:nvSpPr>
        <p:spPr>
          <a:xfrm>
            <a:off x="6286500" y="1381125"/>
            <a:ext cx="15430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350" b="1">
                <a:solidFill>
                  <a:srgbClr val="E6E9E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50" b="1">
                <a:solidFill>
                  <a:srgbClr val="E6E9E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DUT</a:t>
            </a:r>
            <a:endParaRPr sz="1350" b="1">
              <a:solidFill>
                <a:srgbClr val="E6E9E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ctr">
              <a:lnSpc>
                <a:spcPct val="100000"/>
              </a:lnSpc>
              <a:buNone/>
              <a:defRPr sz="1350" b="1">
                <a:solidFill>
                  <a:srgbClr val="E6E9E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50" b="1">
                <a:solidFill>
                  <a:srgbClr val="E6E9E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2×2 Multiplier</a:t>
            </a:r>
            <a:endParaRPr sz="1350" b="1">
              <a:solidFill>
                <a:srgbClr val="E6E9E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4" name="Right Arrow 13"/>
          <p:cNvSpPr>
            <a:spLocks noGrp="1"/>
          </p:cNvSpPr>
          <p:nvPr/>
        </p:nvSpPr>
        <p:spPr>
          <a:xfrm>
            <a:off x="8001000" y="1600200"/>
            <a:ext cx="895350" cy="133350"/>
          </a:xfrm>
          <a:prstGeom prst="rightArrow">
            <a:avLst/>
          </a:prstGeom>
          <a:solidFill>
            <a:srgbClr val="FFBD2E"/>
          </a:solidFill>
          <a:ln w="0">
            <a:solidFill>
              <a:srgbClr val="FFBD2E"/>
            </a:solidFill>
            <a:prstDash val="solid"/>
          </a:ln>
        </p:spPr>
      </p:sp>
      <p:sp>
        <p:nvSpPr>
          <p:cNvPr id="15" name="Rounded Rectangle 14"/>
          <p:cNvSpPr>
            <a:spLocks noGrp="1"/>
          </p:cNvSpPr>
          <p:nvPr/>
        </p:nvSpPr>
        <p:spPr>
          <a:xfrm>
            <a:off x="9010650" y="1352550"/>
            <a:ext cx="1714500" cy="685800"/>
          </a:xfrm>
          <a:prstGeom prst="roundRect">
            <a:avLst>
              <a:gd name="adj" fmla="val 4167"/>
            </a:avLst>
          </a:prstGeom>
          <a:solidFill>
            <a:srgbClr val="1B2739"/>
          </a:solidFill>
          <a:ln w="19050">
            <a:solidFill>
              <a:srgbClr val="38D6A2"/>
            </a:solidFill>
            <a:prstDash val="solid"/>
          </a:ln>
        </p:spPr>
      </p:sp>
      <p:sp>
        <p:nvSpPr>
          <p:cNvPr id="16" name="Rectangle 15"/>
          <p:cNvSpPr>
            <a:spLocks noGrp="1"/>
          </p:cNvSpPr>
          <p:nvPr/>
        </p:nvSpPr>
        <p:spPr>
          <a:xfrm>
            <a:off x="9048750" y="1381125"/>
            <a:ext cx="16383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96442"/>
          </a:bodyPr>
          <a:lstStyle/>
          <a:p>
            <a:pPr algn="ctr">
              <a:lnSpc>
                <a:spcPct val="100000"/>
              </a:lnSpc>
              <a:buNone/>
              <a:defRPr sz="1350" b="1">
                <a:solidFill>
                  <a:srgbClr val="E6E9E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50" b="1">
                <a:solidFill>
                  <a:srgbClr val="E6E9E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Compare</a:t>
            </a:r>
            <a:endParaRPr sz="1350" b="1">
              <a:solidFill>
                <a:srgbClr val="E6E9E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ctr">
              <a:lnSpc>
                <a:spcPct val="100000"/>
              </a:lnSpc>
              <a:buNone/>
              <a:defRPr sz="1350" b="1">
                <a:solidFill>
                  <a:srgbClr val="E6E9E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50" b="1">
                <a:solidFill>
                  <a:srgbClr val="E6E9E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Expected vs. Actual</a:t>
            </a:r>
            <a:endParaRPr sz="1350" b="1">
              <a:solidFill>
                <a:srgbClr val="E6E9E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7" name="Rectangle 16"/>
          <p:cNvSpPr>
            <a:spLocks noGrp="1"/>
          </p:cNvSpPr>
          <p:nvPr/>
        </p:nvSpPr>
        <p:spPr>
          <a:xfrm>
            <a:off x="819150" y="2838450"/>
            <a:ext cx="3143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89468"/>
          </a:bodyPr>
          <a:lstStyle/>
          <a:p>
            <a:pPr algn="l">
              <a:lnSpc>
                <a:spcPct val="100000"/>
              </a:lnSpc>
              <a:buNone/>
              <a:defRPr sz="2025" b="1">
                <a:solidFill>
                  <a:srgbClr val="F8FAFC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025" b="1">
                <a:solidFill>
                  <a:srgbClr val="F8FAFC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Recommended Test Groups</a:t>
            </a:r>
            <a:endParaRPr sz="2025" b="1">
              <a:solidFill>
                <a:srgbClr val="F8FAFC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8" name="Rectangle 17"/>
          <p:cNvSpPr>
            <a:spLocks noGrp="1"/>
          </p:cNvSpPr>
          <p:nvPr/>
        </p:nvSpPr>
        <p:spPr>
          <a:xfrm>
            <a:off x="857250" y="3381375"/>
            <a:ext cx="2095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77992"/>
          </a:bodyPr>
          <a:lstStyle/>
          <a:p>
            <a:pPr algn="ctr">
              <a:lnSpc>
                <a:spcPct val="100000"/>
              </a:lnSpc>
              <a:buNone/>
              <a:defRPr sz="1425" b="1">
                <a:solidFill>
                  <a:srgbClr val="F8FAFC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425" b="1">
                <a:solidFill>
                  <a:srgbClr val="F8FAFC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✓</a:t>
            </a:r>
            <a:endParaRPr sz="1425" b="1">
              <a:solidFill>
                <a:srgbClr val="F8FAFC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9" name="Rectangle 18"/>
          <p:cNvSpPr>
            <a:spLocks noGrp="1"/>
          </p:cNvSpPr>
          <p:nvPr/>
        </p:nvSpPr>
        <p:spPr>
          <a:xfrm>
            <a:off x="1095375" y="3381375"/>
            <a:ext cx="19526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200" b="0">
                <a:solidFill>
                  <a:srgbClr val="E6E9E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00" b="0">
                <a:solidFill>
                  <a:srgbClr val="E6E9E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All-zero matrices</a:t>
            </a:r>
            <a:endParaRPr sz="1200" b="0">
              <a:solidFill>
                <a:srgbClr val="E6E9E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0" name="Rectangle 19"/>
          <p:cNvSpPr>
            <a:spLocks noGrp="1"/>
          </p:cNvSpPr>
          <p:nvPr/>
        </p:nvSpPr>
        <p:spPr>
          <a:xfrm>
            <a:off x="3571875" y="3381375"/>
            <a:ext cx="2095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77992"/>
          </a:bodyPr>
          <a:lstStyle/>
          <a:p>
            <a:pPr algn="ctr">
              <a:lnSpc>
                <a:spcPct val="100000"/>
              </a:lnSpc>
              <a:buNone/>
              <a:defRPr sz="1425" b="1">
                <a:solidFill>
                  <a:srgbClr val="F8FAFC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425" b="1">
                <a:solidFill>
                  <a:srgbClr val="F8FAFC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✓</a:t>
            </a:r>
            <a:endParaRPr sz="1425" b="1">
              <a:solidFill>
                <a:srgbClr val="F8FAFC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1" name="Rectangle 20"/>
          <p:cNvSpPr>
            <a:spLocks noGrp="1"/>
          </p:cNvSpPr>
          <p:nvPr/>
        </p:nvSpPr>
        <p:spPr>
          <a:xfrm>
            <a:off x="3810000" y="3381375"/>
            <a:ext cx="18573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200" b="0">
                <a:solidFill>
                  <a:srgbClr val="E6E9E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00" b="0">
                <a:solidFill>
                  <a:srgbClr val="E6E9E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Identity matrix</a:t>
            </a:r>
            <a:endParaRPr sz="1200" b="0">
              <a:solidFill>
                <a:srgbClr val="E6E9E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2" name="Rectangle 21"/>
          <p:cNvSpPr>
            <a:spLocks noGrp="1"/>
          </p:cNvSpPr>
          <p:nvPr/>
        </p:nvSpPr>
        <p:spPr>
          <a:xfrm>
            <a:off x="6286500" y="3381375"/>
            <a:ext cx="2095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77992"/>
          </a:bodyPr>
          <a:lstStyle/>
          <a:p>
            <a:pPr algn="ctr">
              <a:lnSpc>
                <a:spcPct val="100000"/>
              </a:lnSpc>
              <a:buNone/>
              <a:defRPr sz="1425" b="1">
                <a:solidFill>
                  <a:srgbClr val="F8FAFC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425" b="1">
                <a:solidFill>
                  <a:srgbClr val="F8FAFC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✓</a:t>
            </a:r>
            <a:endParaRPr sz="1425" b="1">
              <a:solidFill>
                <a:srgbClr val="F8FAFC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3" name="Rectangle 22"/>
          <p:cNvSpPr>
            <a:spLocks noGrp="1"/>
          </p:cNvSpPr>
          <p:nvPr/>
        </p:nvSpPr>
        <p:spPr>
          <a:xfrm>
            <a:off x="6524625" y="3381375"/>
            <a:ext cx="18573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200" b="0">
                <a:solidFill>
                  <a:srgbClr val="E6E9E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00" b="0">
                <a:solidFill>
                  <a:srgbClr val="E6E9E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All-positive values</a:t>
            </a:r>
            <a:endParaRPr sz="1200" b="0">
              <a:solidFill>
                <a:srgbClr val="E6E9E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4" name="Rectangle 23"/>
          <p:cNvSpPr>
            <a:spLocks noGrp="1"/>
          </p:cNvSpPr>
          <p:nvPr/>
        </p:nvSpPr>
        <p:spPr>
          <a:xfrm>
            <a:off x="9001125" y="3381375"/>
            <a:ext cx="2095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77992"/>
          </a:bodyPr>
          <a:lstStyle/>
          <a:p>
            <a:pPr algn="ctr">
              <a:lnSpc>
                <a:spcPct val="100000"/>
              </a:lnSpc>
              <a:buNone/>
              <a:defRPr sz="1425" b="1">
                <a:solidFill>
                  <a:srgbClr val="F8FAFC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425" b="1">
                <a:solidFill>
                  <a:srgbClr val="F8FAFC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✓</a:t>
            </a:r>
            <a:endParaRPr sz="1425" b="1">
              <a:solidFill>
                <a:srgbClr val="F8FAFC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5" name="Rectangle 24"/>
          <p:cNvSpPr>
            <a:spLocks noGrp="1"/>
          </p:cNvSpPr>
          <p:nvPr/>
        </p:nvSpPr>
        <p:spPr>
          <a:xfrm>
            <a:off x="9239250" y="3381375"/>
            <a:ext cx="18573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200" b="0">
                <a:solidFill>
                  <a:srgbClr val="E6E9E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00" b="0">
                <a:solidFill>
                  <a:srgbClr val="E6E9E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All-negative values</a:t>
            </a:r>
            <a:endParaRPr sz="1200" b="0">
              <a:solidFill>
                <a:srgbClr val="E6E9E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6" name="Rectangle 25"/>
          <p:cNvSpPr>
            <a:spLocks noGrp="1"/>
          </p:cNvSpPr>
          <p:nvPr/>
        </p:nvSpPr>
        <p:spPr>
          <a:xfrm>
            <a:off x="857250" y="3886200"/>
            <a:ext cx="2095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77992"/>
          </a:bodyPr>
          <a:lstStyle/>
          <a:p>
            <a:pPr algn="ctr">
              <a:lnSpc>
                <a:spcPct val="100000"/>
              </a:lnSpc>
              <a:buNone/>
              <a:defRPr sz="1425" b="1">
                <a:solidFill>
                  <a:srgbClr val="F8FAFC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425" b="1">
                <a:solidFill>
                  <a:srgbClr val="F8FAFC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✓</a:t>
            </a:r>
            <a:endParaRPr sz="1425" b="1">
              <a:solidFill>
                <a:srgbClr val="F8FAFC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7" name="Rectangle 26"/>
          <p:cNvSpPr>
            <a:spLocks noGrp="1"/>
          </p:cNvSpPr>
          <p:nvPr/>
        </p:nvSpPr>
        <p:spPr>
          <a:xfrm>
            <a:off x="1095375" y="3886200"/>
            <a:ext cx="19526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200" b="0">
                <a:solidFill>
                  <a:srgbClr val="E6E9E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00" b="0">
                <a:solidFill>
                  <a:srgbClr val="E6E9E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Mixed signs</a:t>
            </a:r>
            <a:endParaRPr sz="1200" b="0">
              <a:solidFill>
                <a:srgbClr val="E6E9E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8" name="Rectangle 27"/>
          <p:cNvSpPr>
            <a:spLocks noGrp="1"/>
          </p:cNvSpPr>
          <p:nvPr/>
        </p:nvSpPr>
        <p:spPr>
          <a:xfrm>
            <a:off x="3571875" y="3886200"/>
            <a:ext cx="2095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77992"/>
          </a:bodyPr>
          <a:lstStyle/>
          <a:p>
            <a:pPr algn="ctr">
              <a:lnSpc>
                <a:spcPct val="100000"/>
              </a:lnSpc>
              <a:buNone/>
              <a:defRPr sz="1425" b="1">
                <a:solidFill>
                  <a:srgbClr val="F8FAFC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425" b="1">
                <a:solidFill>
                  <a:srgbClr val="F8FAFC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✓</a:t>
            </a:r>
            <a:endParaRPr sz="1425" b="1">
              <a:solidFill>
                <a:srgbClr val="F8FAFC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9" name="Rectangle 28"/>
          <p:cNvSpPr>
            <a:spLocks noGrp="1"/>
          </p:cNvSpPr>
          <p:nvPr/>
        </p:nvSpPr>
        <p:spPr>
          <a:xfrm>
            <a:off x="3810000" y="3886200"/>
            <a:ext cx="20478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200" b="0">
                <a:solidFill>
                  <a:srgbClr val="E6E9E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00" b="0">
                <a:solidFill>
                  <a:srgbClr val="E6E9E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Maximum / minimum values</a:t>
            </a:r>
            <a:endParaRPr sz="1200" b="0">
              <a:solidFill>
                <a:srgbClr val="E6E9E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0" name="Rectangle 29"/>
          <p:cNvSpPr>
            <a:spLocks noGrp="1"/>
          </p:cNvSpPr>
          <p:nvPr/>
        </p:nvSpPr>
        <p:spPr>
          <a:xfrm>
            <a:off x="6286500" y="3886200"/>
            <a:ext cx="2095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77992"/>
          </a:bodyPr>
          <a:lstStyle/>
          <a:p>
            <a:pPr algn="ctr">
              <a:lnSpc>
                <a:spcPct val="100000"/>
              </a:lnSpc>
              <a:buNone/>
              <a:defRPr sz="1425" b="1">
                <a:solidFill>
                  <a:srgbClr val="F8FAFC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425" b="1">
                <a:solidFill>
                  <a:srgbClr val="F8FAFC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✓</a:t>
            </a:r>
            <a:endParaRPr sz="1425" b="1">
              <a:solidFill>
                <a:srgbClr val="F8FAFC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1" name="Rectangle 30"/>
          <p:cNvSpPr>
            <a:spLocks noGrp="1"/>
          </p:cNvSpPr>
          <p:nvPr/>
        </p:nvSpPr>
        <p:spPr>
          <a:xfrm>
            <a:off x="6524625" y="3886200"/>
            <a:ext cx="18573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200" b="0">
                <a:solidFill>
                  <a:srgbClr val="E6E9E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00" b="0">
                <a:solidFill>
                  <a:srgbClr val="E6E9E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Zero result</a:t>
            </a:r>
            <a:endParaRPr sz="1200" b="0">
              <a:solidFill>
                <a:srgbClr val="E6E9E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2" name="Rectangle 31"/>
          <p:cNvSpPr>
            <a:spLocks noGrp="1"/>
          </p:cNvSpPr>
          <p:nvPr/>
        </p:nvSpPr>
        <p:spPr>
          <a:xfrm>
            <a:off x="9001125" y="3886200"/>
            <a:ext cx="2095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77992"/>
          </a:bodyPr>
          <a:lstStyle/>
          <a:p>
            <a:pPr algn="ctr">
              <a:lnSpc>
                <a:spcPct val="100000"/>
              </a:lnSpc>
              <a:buNone/>
              <a:defRPr sz="1425" b="1">
                <a:solidFill>
                  <a:srgbClr val="F8FAFC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425" b="1">
                <a:solidFill>
                  <a:srgbClr val="F8FAFC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✓</a:t>
            </a:r>
            <a:endParaRPr sz="1425" b="1">
              <a:solidFill>
                <a:srgbClr val="F8FAFC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3" name="Rectangle 32"/>
          <p:cNvSpPr>
            <a:spLocks noGrp="1"/>
          </p:cNvSpPr>
          <p:nvPr/>
        </p:nvSpPr>
        <p:spPr>
          <a:xfrm>
            <a:off x="9239250" y="3886200"/>
            <a:ext cx="19526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200" b="0">
                <a:solidFill>
                  <a:srgbClr val="E6E9E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00" b="0">
                <a:solidFill>
                  <a:srgbClr val="E6E9E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Near-overflow cases</a:t>
            </a:r>
            <a:endParaRPr sz="1200" b="0">
              <a:solidFill>
                <a:srgbClr val="E6E9E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pic>
        <p:nvPicPr>
          <p:cNvPr id="42" name="Picture 4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8191" y="4504954"/>
            <a:ext cx="3798129" cy="2017756"/>
          </a:xfrm>
          <a:prstGeom prst="rect">
            <a:avLst/>
          </a:prstGeom>
        </p:spPr>
      </p:pic>
      <p:pic>
        <p:nvPicPr>
          <p:cNvPr id="43" name="Picture 4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7550" y="4459553"/>
            <a:ext cx="3798130" cy="206315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>
            <a:spLocks noGrp="1"/>
          </p:cNvSpPr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25C4DD"/>
          </a:solidFill>
          <a:ln w="0">
            <a:noFill/>
            <a:prstDash val="solid"/>
          </a:ln>
        </p:spPr>
      </p:sp>
      <p:sp>
        <p:nvSpPr>
          <p:cNvPr id="3" name="Rectangle 2"/>
          <p:cNvSpPr>
            <a:spLocks noGrp="1"/>
          </p:cNvSpPr>
          <p:nvPr/>
        </p:nvSpPr>
        <p:spPr>
          <a:xfrm>
            <a:off x="533400" y="409575"/>
            <a:ext cx="10858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2850" b="1">
                <a:solidFill>
                  <a:srgbClr val="F8FAFC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850" b="1">
                <a:solidFill>
                  <a:srgbClr val="F8FAFC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9. ModelSim Simulation Results</a:t>
            </a:r>
            <a:endParaRPr sz="2850" b="1">
              <a:solidFill>
                <a:srgbClr val="F8FAFC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" name="Rectangle 3"/>
          <p:cNvSpPr>
            <a:spLocks noGrp="1"/>
          </p:cNvSpPr>
          <p:nvPr/>
        </p:nvSpPr>
        <p:spPr>
          <a:xfrm>
            <a:off x="533400" y="6572250"/>
            <a:ext cx="3143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825" b="0">
                <a:solidFill>
                  <a:srgbClr val="9BA7BA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825" b="0">
                <a:solidFill>
                  <a:srgbClr val="9BA7B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FAP 201 • FPGA Matrix Multiplier</a:t>
            </a:r>
            <a:endParaRPr sz="825" b="0">
              <a:solidFill>
                <a:srgbClr val="9BA7BA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5" name="Rectangle 4"/>
          <p:cNvSpPr>
            <a:spLocks noGrp="1"/>
          </p:cNvSpPr>
          <p:nvPr/>
        </p:nvSpPr>
        <p:spPr>
          <a:xfrm>
            <a:off x="11334750" y="6572250"/>
            <a:ext cx="38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r">
              <a:lnSpc>
                <a:spcPct val="100000"/>
              </a:lnSpc>
              <a:buNone/>
              <a:defRPr sz="825" b="0">
                <a:solidFill>
                  <a:srgbClr val="9BA7BA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825" b="0">
                <a:solidFill>
                  <a:srgbClr val="9BA7B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11</a:t>
            </a:r>
            <a:endParaRPr sz="825" b="0">
              <a:solidFill>
                <a:srgbClr val="9BA7BA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0" name="Rectangle 9"/>
          <p:cNvSpPr>
            <a:spLocks noGrp="1"/>
          </p:cNvSpPr>
          <p:nvPr/>
        </p:nvSpPr>
        <p:spPr>
          <a:xfrm>
            <a:off x="495300" y="1847850"/>
            <a:ext cx="1809750" cy="1333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0000"/>
              </a:lnSpc>
              <a:buNone/>
              <a:defRPr sz="975" b="0">
                <a:solidFill>
                  <a:srgbClr val="334155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defRPr>
            </a:pPr>
            <a:endParaRPr sz="975" b="0">
              <a:solidFill>
                <a:srgbClr val="334155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17" name="Rectangle 16"/>
          <p:cNvSpPr>
            <a:spLocks noGrp="1"/>
          </p:cNvSpPr>
          <p:nvPr/>
        </p:nvSpPr>
        <p:spPr>
          <a:xfrm>
            <a:off x="7858125" y="1390650"/>
            <a:ext cx="3619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89140"/>
          </a:bodyPr>
          <a:lstStyle/>
          <a:p>
            <a:pPr algn="l">
              <a:lnSpc>
                <a:spcPct val="100000"/>
              </a:lnSpc>
              <a:buNone/>
              <a:defRPr sz="2175" b="1">
                <a:solidFill>
                  <a:srgbClr val="F8FAFC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175" b="1">
                <a:solidFill>
                  <a:srgbClr val="F8FAFC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How to Read the Waveform</a:t>
            </a:r>
            <a:endParaRPr sz="2175" b="1">
              <a:solidFill>
                <a:srgbClr val="F8FAFC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8" name="Rounded Rectangle 17"/>
          <p:cNvSpPr>
            <a:spLocks noGrp="1"/>
          </p:cNvSpPr>
          <p:nvPr/>
        </p:nvSpPr>
        <p:spPr>
          <a:xfrm>
            <a:off x="7905750" y="2000250"/>
            <a:ext cx="342900" cy="323850"/>
          </a:xfrm>
          <a:prstGeom prst="roundRect">
            <a:avLst>
              <a:gd name="adj" fmla="val 5882"/>
            </a:avLst>
          </a:prstGeom>
          <a:solidFill>
            <a:srgbClr val="111C31"/>
          </a:solidFill>
          <a:ln w="19050">
            <a:solidFill>
              <a:srgbClr val="25C4DD"/>
            </a:solidFill>
            <a:prstDash val="solid"/>
          </a:ln>
        </p:spPr>
      </p:sp>
      <p:sp>
        <p:nvSpPr>
          <p:cNvPr id="19" name="Rectangle 18"/>
          <p:cNvSpPr>
            <a:spLocks noGrp="1"/>
          </p:cNvSpPr>
          <p:nvPr/>
        </p:nvSpPr>
        <p:spPr>
          <a:xfrm>
            <a:off x="7905750" y="2000250"/>
            <a:ext cx="3429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350" b="1">
                <a:solidFill>
                  <a:srgbClr val="25C4DD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50" b="1">
                <a:solidFill>
                  <a:srgbClr val="25C4DD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</a:t>
            </a:r>
            <a:endParaRPr sz="1350" b="1">
              <a:solidFill>
                <a:srgbClr val="25C4DD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0" name="Rectangle 19"/>
          <p:cNvSpPr>
            <a:spLocks noGrp="1"/>
          </p:cNvSpPr>
          <p:nvPr/>
        </p:nvSpPr>
        <p:spPr>
          <a:xfrm>
            <a:off x="8362950" y="1981200"/>
            <a:ext cx="29718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350" b="0">
                <a:solidFill>
                  <a:srgbClr val="E6E9E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50" b="0">
                <a:solidFill>
                  <a:srgbClr val="E6E9E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Reset returns the circuit to IDLE.</a:t>
            </a:r>
            <a:endParaRPr sz="1350" b="0">
              <a:solidFill>
                <a:srgbClr val="E6E9E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1" name="Rounded Rectangle 20"/>
          <p:cNvSpPr>
            <a:spLocks noGrp="1"/>
          </p:cNvSpPr>
          <p:nvPr/>
        </p:nvSpPr>
        <p:spPr>
          <a:xfrm>
            <a:off x="7905750" y="2762250"/>
            <a:ext cx="342900" cy="323850"/>
          </a:xfrm>
          <a:prstGeom prst="roundRect">
            <a:avLst>
              <a:gd name="adj" fmla="val 5882"/>
            </a:avLst>
          </a:prstGeom>
          <a:solidFill>
            <a:srgbClr val="111C31"/>
          </a:solidFill>
          <a:ln w="19050">
            <a:solidFill>
              <a:srgbClr val="25C4DD"/>
            </a:solidFill>
            <a:prstDash val="solid"/>
          </a:ln>
        </p:spPr>
      </p:sp>
      <p:sp>
        <p:nvSpPr>
          <p:cNvPr id="22" name="Rectangle 21"/>
          <p:cNvSpPr>
            <a:spLocks noGrp="1"/>
          </p:cNvSpPr>
          <p:nvPr/>
        </p:nvSpPr>
        <p:spPr>
          <a:xfrm>
            <a:off x="7905750" y="2762250"/>
            <a:ext cx="3429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350" b="1">
                <a:solidFill>
                  <a:srgbClr val="25C4DD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50" b="1">
                <a:solidFill>
                  <a:srgbClr val="25C4DD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2</a:t>
            </a:r>
            <a:endParaRPr sz="1350" b="1">
              <a:solidFill>
                <a:srgbClr val="25C4DD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3" name="Rectangle 22"/>
          <p:cNvSpPr>
            <a:spLocks noGrp="1"/>
          </p:cNvSpPr>
          <p:nvPr/>
        </p:nvSpPr>
        <p:spPr>
          <a:xfrm>
            <a:off x="8362950" y="2743200"/>
            <a:ext cx="29718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350" b="0">
                <a:solidFill>
                  <a:srgbClr val="E6E9E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50" b="0">
                <a:solidFill>
                  <a:srgbClr val="E6E9E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Set start = 1 to load matrices A and B.</a:t>
            </a:r>
            <a:endParaRPr sz="1350" b="0">
              <a:solidFill>
                <a:srgbClr val="E6E9E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4" name="Rounded Rectangle 23"/>
          <p:cNvSpPr>
            <a:spLocks noGrp="1"/>
          </p:cNvSpPr>
          <p:nvPr/>
        </p:nvSpPr>
        <p:spPr>
          <a:xfrm>
            <a:off x="7905750" y="3524250"/>
            <a:ext cx="342900" cy="323850"/>
          </a:xfrm>
          <a:prstGeom prst="roundRect">
            <a:avLst>
              <a:gd name="adj" fmla="val 5882"/>
            </a:avLst>
          </a:prstGeom>
          <a:solidFill>
            <a:srgbClr val="111C31"/>
          </a:solidFill>
          <a:ln w="19050">
            <a:solidFill>
              <a:srgbClr val="25C4DD"/>
            </a:solidFill>
            <a:prstDash val="solid"/>
          </a:ln>
        </p:spPr>
      </p:sp>
      <p:sp>
        <p:nvSpPr>
          <p:cNvPr id="25" name="Rectangle 24"/>
          <p:cNvSpPr>
            <a:spLocks noGrp="1"/>
          </p:cNvSpPr>
          <p:nvPr/>
        </p:nvSpPr>
        <p:spPr>
          <a:xfrm>
            <a:off x="7905750" y="3524250"/>
            <a:ext cx="3429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350" b="1">
                <a:solidFill>
                  <a:srgbClr val="25C4DD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50" b="1">
                <a:solidFill>
                  <a:srgbClr val="25C4DD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3</a:t>
            </a:r>
            <a:endParaRPr sz="1350" b="1">
              <a:solidFill>
                <a:srgbClr val="25C4DD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6" name="Rectangle 25"/>
          <p:cNvSpPr>
            <a:spLocks noGrp="1"/>
          </p:cNvSpPr>
          <p:nvPr/>
        </p:nvSpPr>
        <p:spPr>
          <a:xfrm>
            <a:off x="8362950" y="3505200"/>
            <a:ext cx="29718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350" b="0">
                <a:solidFill>
                  <a:srgbClr val="E6E9E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50" b="0">
                <a:solidFill>
                  <a:srgbClr val="E6E9E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After the MAC cycles, done = 1.</a:t>
            </a:r>
            <a:endParaRPr sz="1350" b="0">
              <a:solidFill>
                <a:srgbClr val="E6E9E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7" name="Rounded Rectangle 26"/>
          <p:cNvSpPr>
            <a:spLocks noGrp="1"/>
          </p:cNvSpPr>
          <p:nvPr/>
        </p:nvSpPr>
        <p:spPr>
          <a:xfrm>
            <a:off x="7905750" y="4286250"/>
            <a:ext cx="342900" cy="323850"/>
          </a:xfrm>
          <a:prstGeom prst="roundRect">
            <a:avLst>
              <a:gd name="adj" fmla="val 5882"/>
            </a:avLst>
          </a:prstGeom>
          <a:solidFill>
            <a:srgbClr val="111C31"/>
          </a:solidFill>
          <a:ln w="19050">
            <a:solidFill>
              <a:srgbClr val="25C4DD"/>
            </a:solidFill>
            <a:prstDash val="solid"/>
          </a:ln>
        </p:spPr>
      </p:sp>
      <p:sp>
        <p:nvSpPr>
          <p:cNvPr id="28" name="Rectangle 27"/>
          <p:cNvSpPr>
            <a:spLocks noGrp="1"/>
          </p:cNvSpPr>
          <p:nvPr/>
        </p:nvSpPr>
        <p:spPr>
          <a:xfrm>
            <a:off x="7905750" y="4286250"/>
            <a:ext cx="3429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350" b="1">
                <a:solidFill>
                  <a:srgbClr val="25C4DD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50" b="1">
                <a:solidFill>
                  <a:srgbClr val="25C4DD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4</a:t>
            </a:r>
            <a:endParaRPr sz="1350" b="1">
              <a:solidFill>
                <a:srgbClr val="25C4DD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9" name="Rectangle 28"/>
          <p:cNvSpPr>
            <a:spLocks noGrp="1"/>
          </p:cNvSpPr>
          <p:nvPr/>
        </p:nvSpPr>
        <p:spPr>
          <a:xfrm>
            <a:off x="8362950" y="4267200"/>
            <a:ext cx="29718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350" b="0">
                <a:solidFill>
                  <a:srgbClr val="E6E9E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50" b="0">
                <a:solidFill>
                  <a:srgbClr val="E6E9E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C00…C11 match the expected values.</a:t>
            </a:r>
            <a:endParaRPr sz="1350" b="0">
              <a:solidFill>
                <a:srgbClr val="E6E9E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0" name="Rectangle 29"/>
          <p:cNvSpPr>
            <a:spLocks noGrp="1"/>
          </p:cNvSpPr>
          <p:nvPr/>
        </p:nvSpPr>
        <p:spPr>
          <a:xfrm>
            <a:off x="7858125" y="5219700"/>
            <a:ext cx="3476625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75" b="0">
                <a:solidFill>
                  <a:srgbClr val="9BA7BA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0">
                <a:solidFill>
                  <a:srgbClr val="9BA7B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Suggested caption: Matrix A = …, Matrix B = …, and Matrix C matches the Python result.</a:t>
            </a:r>
            <a:endParaRPr sz="1275" b="0">
              <a:solidFill>
                <a:srgbClr val="9BA7BA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pic>
        <p:nvPicPr>
          <p:cNvPr id="31" name="Picture 3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3056" y="1348981"/>
            <a:ext cx="7074680" cy="421105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>
            <a:spLocks noGrp="1"/>
          </p:cNvSpPr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25C4DD"/>
          </a:solidFill>
          <a:ln w="0">
            <a:noFill/>
            <a:prstDash val="solid"/>
          </a:ln>
        </p:spPr>
      </p:sp>
      <p:sp>
        <p:nvSpPr>
          <p:cNvPr id="3" name="Rectangle 2"/>
          <p:cNvSpPr>
            <a:spLocks noGrp="1"/>
          </p:cNvSpPr>
          <p:nvPr/>
        </p:nvSpPr>
        <p:spPr>
          <a:xfrm>
            <a:off x="533400" y="409575"/>
            <a:ext cx="10858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2850" b="1">
                <a:solidFill>
                  <a:srgbClr val="F8FAFC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850" b="1">
                <a:solidFill>
                  <a:srgbClr val="F8FAFC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10. VS Code and Terminal Results</a:t>
            </a:r>
            <a:endParaRPr sz="2850" b="1">
              <a:solidFill>
                <a:srgbClr val="F8FAFC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" name="Rectangle 3"/>
          <p:cNvSpPr>
            <a:spLocks noGrp="1"/>
          </p:cNvSpPr>
          <p:nvPr/>
        </p:nvSpPr>
        <p:spPr>
          <a:xfrm>
            <a:off x="533400" y="6572250"/>
            <a:ext cx="3143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825" b="0">
                <a:solidFill>
                  <a:srgbClr val="9BA7BA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825" b="0">
                <a:solidFill>
                  <a:srgbClr val="9BA7B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FAP 201 • FPGA Matrix Multiplier</a:t>
            </a:r>
            <a:endParaRPr sz="825" b="0">
              <a:solidFill>
                <a:srgbClr val="9BA7BA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5" name="Rectangle 4"/>
          <p:cNvSpPr>
            <a:spLocks noGrp="1"/>
          </p:cNvSpPr>
          <p:nvPr/>
        </p:nvSpPr>
        <p:spPr>
          <a:xfrm>
            <a:off x="11334750" y="6572250"/>
            <a:ext cx="38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r">
              <a:lnSpc>
                <a:spcPct val="100000"/>
              </a:lnSpc>
              <a:buNone/>
              <a:defRPr sz="825" b="0">
                <a:solidFill>
                  <a:srgbClr val="9BA7BA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825" b="0">
                <a:solidFill>
                  <a:srgbClr val="9BA7B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12</a:t>
            </a:r>
            <a:endParaRPr sz="825" b="0">
              <a:solidFill>
                <a:srgbClr val="9BA7BA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4" name="Rectangle 13"/>
          <p:cNvSpPr>
            <a:spLocks noGrp="1"/>
          </p:cNvSpPr>
          <p:nvPr/>
        </p:nvSpPr>
        <p:spPr>
          <a:xfrm>
            <a:off x="876300" y="5572125"/>
            <a:ext cx="2952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95311"/>
          </a:bodyPr>
          <a:lstStyle/>
          <a:p>
            <a:pPr algn="l">
              <a:lnSpc>
                <a:spcPct val="100000"/>
              </a:lnSpc>
              <a:buNone/>
              <a:defRPr sz="1725" b="1">
                <a:solidFill>
                  <a:srgbClr val="F8FAFC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725" b="1">
                <a:solidFill>
                  <a:srgbClr val="F8FAFC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The screenshot should show</a:t>
            </a:r>
            <a:endParaRPr sz="1725" b="1">
              <a:solidFill>
                <a:srgbClr val="F8FAFC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5" name="Rectangle 14"/>
          <p:cNvSpPr>
            <a:spLocks noGrp="1"/>
          </p:cNvSpPr>
          <p:nvPr/>
        </p:nvSpPr>
        <p:spPr>
          <a:xfrm>
            <a:off x="3857625" y="5429250"/>
            <a:ext cx="40957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93750"/>
          </a:bodyPr>
          <a:lstStyle/>
          <a:p>
            <a:pPr algn="l">
              <a:lnSpc>
                <a:spcPct val="100000"/>
              </a:lnSpc>
              <a:buNone/>
              <a:defRPr sz="1200" b="0">
                <a:solidFill>
                  <a:srgbClr val="E6E9E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00" b="0">
                <a:solidFill>
                  <a:srgbClr val="E6E9E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 Input matrices A and B</a:t>
            </a:r>
            <a:endParaRPr sz="1200" b="0">
              <a:solidFill>
                <a:srgbClr val="E6E9E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>
              <a:lnSpc>
                <a:spcPct val="100000"/>
              </a:lnSpc>
              <a:buNone/>
              <a:defRPr sz="1200" b="0">
                <a:solidFill>
                  <a:srgbClr val="E6E9E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00" b="0">
                <a:solidFill>
                  <a:srgbClr val="E6E9E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 Python expected result</a:t>
            </a:r>
            <a:endParaRPr sz="1200" b="0">
              <a:solidFill>
                <a:srgbClr val="E6E9E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>
              <a:lnSpc>
                <a:spcPct val="100000"/>
              </a:lnSpc>
              <a:buNone/>
              <a:defRPr sz="1200" b="0">
                <a:solidFill>
                  <a:srgbClr val="E6E9E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00" b="0">
                <a:solidFill>
                  <a:srgbClr val="E6E9E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 Actual DUT result</a:t>
            </a:r>
            <a:endParaRPr sz="1200" b="0">
              <a:solidFill>
                <a:srgbClr val="E6E9E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>
              <a:lnSpc>
                <a:spcPct val="100000"/>
              </a:lnSpc>
              <a:buNone/>
              <a:defRPr sz="1200" b="0">
                <a:solidFill>
                  <a:srgbClr val="E6E9E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00" b="0">
                <a:solidFill>
                  <a:srgbClr val="E6E9E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 Final PASS / FAIL status</a:t>
            </a:r>
            <a:endParaRPr sz="1200" b="0">
              <a:solidFill>
                <a:srgbClr val="E6E9E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069848"/>
            <a:ext cx="5017592" cy="4206240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8473" y="1225296"/>
            <a:ext cx="4858267" cy="407822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>
            <a:spLocks noGrp="1"/>
          </p:cNvSpPr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25C4DD"/>
          </a:solidFill>
          <a:ln w="0">
            <a:noFill/>
            <a:prstDash val="solid"/>
          </a:ln>
        </p:spPr>
      </p:sp>
      <p:sp>
        <p:nvSpPr>
          <p:cNvPr id="3" name="Rectangle 2"/>
          <p:cNvSpPr>
            <a:spLocks noGrp="1"/>
          </p:cNvSpPr>
          <p:nvPr/>
        </p:nvSpPr>
        <p:spPr>
          <a:xfrm>
            <a:off x="533400" y="409575"/>
            <a:ext cx="10858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2850" b="1">
                <a:solidFill>
                  <a:srgbClr val="F8FAFC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850" b="1">
                <a:solidFill>
                  <a:srgbClr val="F8FAFC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11. Conclusion</a:t>
            </a:r>
            <a:endParaRPr sz="2850" b="1">
              <a:solidFill>
                <a:srgbClr val="F8FAFC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" name="Rectangle 3"/>
          <p:cNvSpPr>
            <a:spLocks noGrp="1"/>
          </p:cNvSpPr>
          <p:nvPr/>
        </p:nvSpPr>
        <p:spPr>
          <a:xfrm>
            <a:off x="533400" y="6572250"/>
            <a:ext cx="3143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825" b="0">
                <a:solidFill>
                  <a:srgbClr val="9BA7BA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825" b="0">
                <a:solidFill>
                  <a:srgbClr val="9BA7B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FAP 201 • FPGA Matrix Multiplier</a:t>
            </a:r>
            <a:endParaRPr sz="825" b="0">
              <a:solidFill>
                <a:srgbClr val="9BA7BA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5" name="Rectangle 4"/>
          <p:cNvSpPr>
            <a:spLocks noGrp="1"/>
          </p:cNvSpPr>
          <p:nvPr/>
        </p:nvSpPr>
        <p:spPr>
          <a:xfrm>
            <a:off x="11334750" y="6572250"/>
            <a:ext cx="38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r">
              <a:lnSpc>
                <a:spcPct val="100000"/>
              </a:lnSpc>
              <a:buNone/>
              <a:defRPr sz="825" b="0">
                <a:solidFill>
                  <a:srgbClr val="9BA7BA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825" b="0">
                <a:solidFill>
                  <a:srgbClr val="9BA7B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14</a:t>
            </a:r>
            <a:endParaRPr sz="825" b="0">
              <a:solidFill>
                <a:srgbClr val="9BA7BA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" name="Rectangle 5"/>
          <p:cNvSpPr>
            <a:spLocks noGrp="1"/>
          </p:cNvSpPr>
          <p:nvPr/>
        </p:nvSpPr>
        <p:spPr>
          <a:xfrm>
            <a:off x="552450" y="971550"/>
            <a:ext cx="7239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350" b="0">
                <a:solidFill>
                  <a:srgbClr val="9BA7BA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50" b="0">
                <a:solidFill>
                  <a:srgbClr val="9BA7B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Summary of the 2×2 systolic-array matrix-multiplier design</a:t>
            </a:r>
            <a:endParaRPr sz="1350" b="0">
              <a:solidFill>
                <a:srgbClr val="9BA7BA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7" name="Rectangle 6"/>
          <p:cNvSpPr>
            <a:spLocks noGrp="1"/>
          </p:cNvSpPr>
          <p:nvPr/>
        </p:nvSpPr>
        <p:spPr>
          <a:xfrm>
            <a:off x="800100" y="1543050"/>
            <a:ext cx="3143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950" b="1">
                <a:solidFill>
                  <a:srgbClr val="25C4DD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950" b="1">
                <a:solidFill>
                  <a:srgbClr val="25C4DD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Mathematically Correct</a:t>
            </a:r>
            <a:endParaRPr sz="1950" b="1">
              <a:solidFill>
                <a:srgbClr val="25C4DD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8" name="Rectangle 7"/>
          <p:cNvSpPr>
            <a:spLocks noGrp="1"/>
          </p:cNvSpPr>
          <p:nvPr/>
        </p:nvSpPr>
        <p:spPr>
          <a:xfrm>
            <a:off x="800100" y="2038350"/>
            <a:ext cx="4476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350" b="0">
                <a:solidFill>
                  <a:srgbClr val="E6E9E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50" b="0">
                <a:solidFill>
                  <a:srgbClr val="E6E9E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C[i][j] is the sum of two row-by-column products.</a:t>
            </a:r>
            <a:endParaRPr sz="1350" b="0">
              <a:solidFill>
                <a:srgbClr val="E6E9E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9" name="Rectangle 8"/>
          <p:cNvSpPr>
            <a:spLocks noGrp="1"/>
          </p:cNvSpPr>
          <p:nvPr/>
        </p:nvSpPr>
        <p:spPr>
          <a:xfrm>
            <a:off x="6191250" y="1543050"/>
            <a:ext cx="3143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950" b="1">
                <a:solidFill>
                  <a:srgbClr val="FFBD2E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950" b="1">
                <a:solidFill>
                  <a:srgbClr val="FFBD2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Hardware Correct</a:t>
            </a:r>
            <a:endParaRPr sz="1950" b="1">
              <a:solidFill>
                <a:srgbClr val="FFBD2E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0" name="Rectangle 9"/>
          <p:cNvSpPr>
            <a:spLocks noGrp="1"/>
          </p:cNvSpPr>
          <p:nvPr/>
        </p:nvSpPr>
        <p:spPr>
          <a:xfrm>
            <a:off x="6191250" y="2038350"/>
            <a:ext cx="4762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98958"/>
          </a:bodyPr>
          <a:lstStyle/>
          <a:p>
            <a:pPr algn="l">
              <a:lnSpc>
                <a:spcPct val="100000"/>
              </a:lnSpc>
              <a:buNone/>
              <a:defRPr sz="1350" b="0">
                <a:solidFill>
                  <a:srgbClr val="E6E9E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50" b="0">
                <a:solidFill>
                  <a:srgbClr val="E6E9E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The design uses PE/MAC units, registers, and a clocked FSM.</a:t>
            </a:r>
            <a:endParaRPr sz="1350" b="0">
              <a:solidFill>
                <a:srgbClr val="E6E9E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1" name="Rectangle 10"/>
          <p:cNvSpPr>
            <a:spLocks noGrp="1"/>
          </p:cNvSpPr>
          <p:nvPr/>
        </p:nvSpPr>
        <p:spPr>
          <a:xfrm>
            <a:off x="800100" y="2895600"/>
            <a:ext cx="3143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950" b="1">
                <a:solidFill>
                  <a:srgbClr val="38D6A2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950" b="1">
                <a:solidFill>
                  <a:srgbClr val="38D6A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Data Format Correct</a:t>
            </a:r>
            <a:endParaRPr sz="1950" b="1">
              <a:solidFill>
                <a:srgbClr val="38D6A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2" name="Rectangle 11"/>
          <p:cNvSpPr>
            <a:spLocks noGrp="1"/>
          </p:cNvSpPr>
          <p:nvPr/>
        </p:nvSpPr>
        <p:spPr>
          <a:xfrm>
            <a:off x="800100" y="3390900"/>
            <a:ext cx="4857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350" b="0">
                <a:solidFill>
                  <a:srgbClr val="E6E9E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50" b="0">
                <a:solidFill>
                  <a:srgbClr val="E6E9E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Signed 8-bit inputs, 16-bit products, and 17-bit outputs.</a:t>
            </a:r>
            <a:endParaRPr sz="1350" b="0">
              <a:solidFill>
                <a:srgbClr val="E6E9E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3" name="Rectangle 12"/>
          <p:cNvSpPr>
            <a:spLocks noGrp="1"/>
          </p:cNvSpPr>
          <p:nvPr/>
        </p:nvSpPr>
        <p:spPr>
          <a:xfrm>
            <a:off x="6191250" y="2895600"/>
            <a:ext cx="31432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950" b="1">
                <a:solidFill>
                  <a:srgbClr val="4D91ED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950" b="1">
                <a:solidFill>
                  <a:srgbClr val="4D91ED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Verification Correct</a:t>
            </a:r>
            <a:endParaRPr sz="1950" b="1">
              <a:solidFill>
                <a:srgbClr val="4D91ED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4" name="Rectangle 13"/>
          <p:cNvSpPr>
            <a:spLocks noGrp="1"/>
          </p:cNvSpPr>
          <p:nvPr/>
        </p:nvSpPr>
        <p:spPr>
          <a:xfrm>
            <a:off x="6191250" y="3505200"/>
            <a:ext cx="4762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350" b="0">
                <a:solidFill>
                  <a:srgbClr val="E6E9E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50" b="0">
                <a:solidFill>
                  <a:srgbClr val="E6E9E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Python + testbench + ModelSim compare expected and actual results.</a:t>
            </a:r>
            <a:endParaRPr sz="1350" b="0">
              <a:solidFill>
                <a:srgbClr val="E6E9E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5" name="Rectangle 14"/>
          <p:cNvSpPr>
            <a:spLocks noGrp="1"/>
          </p:cNvSpPr>
          <p:nvPr/>
        </p:nvSpPr>
        <p:spPr>
          <a:xfrm>
            <a:off x="838200" y="4552950"/>
            <a:ext cx="23812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2025" b="1">
                <a:solidFill>
                  <a:srgbClr val="F8FAFC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025" b="1">
                <a:solidFill>
                  <a:srgbClr val="F8FAFC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Future Work</a:t>
            </a:r>
            <a:endParaRPr sz="2025" b="1">
              <a:solidFill>
                <a:srgbClr val="F8FAFC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6" name="Rectangle 15"/>
          <p:cNvSpPr>
            <a:spLocks noGrp="1"/>
          </p:cNvSpPr>
          <p:nvPr/>
        </p:nvSpPr>
        <p:spPr>
          <a:xfrm>
            <a:off x="3381375" y="4400550"/>
            <a:ext cx="619125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350" b="0">
                <a:solidFill>
                  <a:srgbClr val="E6E9E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50" b="0">
                <a:solidFill>
                  <a:srgbClr val="E6E9E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 Scale to 4×4 or N×N arrays</a:t>
            </a:r>
            <a:endParaRPr sz="1350" b="0">
              <a:solidFill>
                <a:srgbClr val="E6E9E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>
              <a:lnSpc>
                <a:spcPct val="100000"/>
              </a:lnSpc>
              <a:buNone/>
              <a:defRPr sz="1350" b="0">
                <a:solidFill>
                  <a:srgbClr val="E6E9E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50" b="0">
                <a:solidFill>
                  <a:srgbClr val="E6E9E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 Add deeper pipelining to increase throughput</a:t>
            </a:r>
            <a:endParaRPr sz="1350" b="0">
              <a:solidFill>
                <a:srgbClr val="E6E9E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>
              <a:lnSpc>
                <a:spcPct val="100000"/>
              </a:lnSpc>
              <a:buNone/>
              <a:defRPr sz="1350" b="0">
                <a:solidFill>
                  <a:srgbClr val="E6E9E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50" b="0">
                <a:solidFill>
                  <a:srgbClr val="E6E9E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 Use DSP blocks when supported by the target FPGA</a:t>
            </a:r>
            <a:endParaRPr sz="1350" b="0">
              <a:solidFill>
                <a:srgbClr val="E6E9E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>
              <a:lnSpc>
                <a:spcPct val="100000"/>
              </a:lnSpc>
              <a:buNone/>
              <a:defRPr sz="1350" b="0">
                <a:solidFill>
                  <a:srgbClr val="E6E9E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50" b="0">
                <a:solidFill>
                  <a:srgbClr val="E6E9E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 Add UART/AXI input from a host computer</a:t>
            </a:r>
            <a:endParaRPr sz="1350" b="0">
              <a:solidFill>
                <a:srgbClr val="E6E9E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7" name="Rectangle 16"/>
          <p:cNvSpPr>
            <a:spLocks noGrp="1"/>
          </p:cNvSpPr>
          <p:nvPr/>
        </p:nvSpPr>
        <p:spPr>
          <a:xfrm>
            <a:off x="3381375" y="5905500"/>
            <a:ext cx="5429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875" b="1">
                <a:solidFill>
                  <a:srgbClr val="F8FAFC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875" b="1">
                <a:solidFill>
                  <a:srgbClr val="F8FAFC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Thank you for listening.</a:t>
            </a:r>
            <a:endParaRPr sz="1875" b="1">
              <a:solidFill>
                <a:srgbClr val="F8FAFC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>
            <a:spLocks noGrp="1"/>
          </p:cNvSpPr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25C4DD"/>
          </a:solidFill>
          <a:ln w="0">
            <a:noFill/>
            <a:prstDash val="solid"/>
          </a:ln>
        </p:spPr>
      </p:sp>
      <p:sp>
        <p:nvSpPr>
          <p:cNvPr id="3" name="Rectangle 2"/>
          <p:cNvSpPr>
            <a:spLocks noGrp="1"/>
          </p:cNvSpPr>
          <p:nvPr/>
        </p:nvSpPr>
        <p:spPr>
          <a:xfrm>
            <a:off x="533400" y="409575"/>
            <a:ext cx="10858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2850" b="1">
                <a:solidFill>
                  <a:srgbClr val="F8FAFC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850" b="1">
                <a:solidFill>
                  <a:srgbClr val="F8FAFC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References</a:t>
            </a:r>
            <a:endParaRPr sz="2850" b="1">
              <a:solidFill>
                <a:srgbClr val="F8FAFC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" name="Rectangle 3"/>
          <p:cNvSpPr>
            <a:spLocks noGrp="1"/>
          </p:cNvSpPr>
          <p:nvPr/>
        </p:nvSpPr>
        <p:spPr>
          <a:xfrm>
            <a:off x="533400" y="6572250"/>
            <a:ext cx="3143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825" b="0">
                <a:solidFill>
                  <a:srgbClr val="9BA7BA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825" b="0">
                <a:solidFill>
                  <a:srgbClr val="9BA7B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FAP 201 • FPGA Matrix Multiplier</a:t>
            </a:r>
            <a:endParaRPr sz="825" b="0">
              <a:solidFill>
                <a:srgbClr val="9BA7BA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5" name="Rectangle 4"/>
          <p:cNvSpPr>
            <a:spLocks noGrp="1"/>
          </p:cNvSpPr>
          <p:nvPr/>
        </p:nvSpPr>
        <p:spPr>
          <a:xfrm>
            <a:off x="11334750" y="6572250"/>
            <a:ext cx="38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r">
              <a:lnSpc>
                <a:spcPct val="100000"/>
              </a:lnSpc>
              <a:buNone/>
              <a:defRPr sz="825" b="0">
                <a:solidFill>
                  <a:srgbClr val="9BA7BA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825" b="0">
                <a:solidFill>
                  <a:srgbClr val="9BA7B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15</a:t>
            </a:r>
            <a:endParaRPr sz="825" b="0">
              <a:solidFill>
                <a:srgbClr val="9BA7BA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" name="Rectangle 5"/>
          <p:cNvSpPr>
            <a:spLocks noGrp="1"/>
          </p:cNvSpPr>
          <p:nvPr/>
        </p:nvSpPr>
        <p:spPr>
          <a:xfrm>
            <a:off x="571500" y="990600"/>
            <a:ext cx="5334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350" b="0">
                <a:solidFill>
                  <a:srgbClr val="9BA7BA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50" b="0">
                <a:solidFill>
                  <a:srgbClr val="9BA7B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Sources used by the project team</a:t>
            </a:r>
            <a:endParaRPr sz="1350" b="0">
              <a:solidFill>
                <a:srgbClr val="9BA7BA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7" name="Rounded Rectangle 6"/>
          <p:cNvSpPr>
            <a:spLocks noGrp="1"/>
          </p:cNvSpPr>
          <p:nvPr/>
        </p:nvSpPr>
        <p:spPr>
          <a:xfrm>
            <a:off x="781050" y="1524000"/>
            <a:ext cx="323850" cy="323850"/>
          </a:xfrm>
          <a:prstGeom prst="roundRect">
            <a:avLst>
              <a:gd name="adj" fmla="val 5882"/>
            </a:avLst>
          </a:prstGeom>
          <a:solidFill>
            <a:srgbClr val="111C31"/>
          </a:solidFill>
          <a:ln w="19050">
            <a:solidFill>
              <a:srgbClr val="25C4DD"/>
            </a:solidFill>
            <a:prstDash val="solid"/>
          </a:ln>
        </p:spPr>
      </p:sp>
      <p:sp>
        <p:nvSpPr>
          <p:cNvPr id="8" name="Rectangle 7"/>
          <p:cNvSpPr>
            <a:spLocks noGrp="1"/>
          </p:cNvSpPr>
          <p:nvPr/>
        </p:nvSpPr>
        <p:spPr>
          <a:xfrm>
            <a:off x="781050" y="1524000"/>
            <a:ext cx="323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275" b="1">
                <a:solidFill>
                  <a:srgbClr val="25C4DD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1">
                <a:solidFill>
                  <a:srgbClr val="25C4DD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</a:t>
            </a:r>
            <a:endParaRPr sz="1275" b="1">
              <a:solidFill>
                <a:srgbClr val="25C4DD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9" name="Rectangle 8"/>
          <p:cNvSpPr>
            <a:spLocks noGrp="1"/>
          </p:cNvSpPr>
          <p:nvPr/>
        </p:nvSpPr>
        <p:spPr>
          <a:xfrm>
            <a:off x="1257300" y="1495425"/>
            <a:ext cx="4476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500" b="1">
                <a:solidFill>
                  <a:srgbClr val="F8FAFC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00" b="1">
                <a:solidFill>
                  <a:srgbClr val="F8FAFC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2×2 Matrix Multiplier</a:t>
            </a:r>
            <a:endParaRPr sz="1500" b="1">
              <a:solidFill>
                <a:srgbClr val="F8FAFC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0" name="Rectangle 9"/>
          <p:cNvSpPr>
            <a:spLocks noGrp="1"/>
          </p:cNvSpPr>
          <p:nvPr/>
        </p:nvSpPr>
        <p:spPr>
          <a:xfrm>
            <a:off x="1257300" y="1781175"/>
            <a:ext cx="9429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00" b="0">
                <a:solidFill>
                  <a:srgbClr val="E6E9E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00" b="0">
                <a:solidFill>
                  <a:srgbClr val="E6E9E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Describes 2×2 matrix multiplication using registers, multipliers, adders, and multiplexers.</a:t>
            </a:r>
            <a:endParaRPr sz="1200" b="0">
              <a:solidFill>
                <a:srgbClr val="E6E9E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1" name="Rounded Rectangle 10"/>
          <p:cNvSpPr>
            <a:spLocks noGrp="1"/>
          </p:cNvSpPr>
          <p:nvPr/>
        </p:nvSpPr>
        <p:spPr>
          <a:xfrm>
            <a:off x="781050" y="2457450"/>
            <a:ext cx="323850" cy="323850"/>
          </a:xfrm>
          <a:prstGeom prst="roundRect">
            <a:avLst>
              <a:gd name="adj" fmla="val 5882"/>
            </a:avLst>
          </a:prstGeom>
          <a:solidFill>
            <a:srgbClr val="111C31"/>
          </a:solidFill>
          <a:ln w="19050">
            <a:solidFill>
              <a:srgbClr val="25C4DD"/>
            </a:solidFill>
            <a:prstDash val="solid"/>
          </a:ln>
        </p:spPr>
      </p:sp>
      <p:sp>
        <p:nvSpPr>
          <p:cNvPr id="12" name="Rectangle 11"/>
          <p:cNvSpPr>
            <a:spLocks noGrp="1"/>
          </p:cNvSpPr>
          <p:nvPr/>
        </p:nvSpPr>
        <p:spPr>
          <a:xfrm>
            <a:off x="781050" y="2457450"/>
            <a:ext cx="323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275" b="1">
                <a:solidFill>
                  <a:srgbClr val="25C4DD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1">
                <a:solidFill>
                  <a:srgbClr val="25C4DD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2</a:t>
            </a:r>
            <a:endParaRPr sz="1275" b="1">
              <a:solidFill>
                <a:srgbClr val="25C4DD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3" name="Rectangle 12"/>
          <p:cNvSpPr>
            <a:spLocks noGrp="1"/>
          </p:cNvSpPr>
          <p:nvPr/>
        </p:nvSpPr>
        <p:spPr>
          <a:xfrm>
            <a:off x="1257300" y="2428875"/>
            <a:ext cx="4476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500" b="1">
                <a:solidFill>
                  <a:srgbClr val="F8FAFC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00" b="1">
                <a:solidFill>
                  <a:srgbClr val="F8FAFC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Getting Started with FPGAs</a:t>
            </a:r>
            <a:endParaRPr sz="1500" b="1">
              <a:solidFill>
                <a:srgbClr val="F8FAFC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4" name="Rectangle 13"/>
          <p:cNvSpPr>
            <a:spLocks noGrp="1"/>
          </p:cNvSpPr>
          <p:nvPr/>
        </p:nvSpPr>
        <p:spPr>
          <a:xfrm>
            <a:off x="1257300" y="2714625"/>
            <a:ext cx="9429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00" b="0">
                <a:solidFill>
                  <a:srgbClr val="E6E9E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00" b="0">
                <a:solidFill>
                  <a:srgbClr val="E6E9E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Introduces simulation, testbenches, synthesis, numeric representation, and arithmetic.</a:t>
            </a:r>
            <a:endParaRPr sz="1200" b="0">
              <a:solidFill>
                <a:srgbClr val="E6E9E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5" name="Rounded Rectangle 14"/>
          <p:cNvSpPr>
            <a:spLocks noGrp="1"/>
          </p:cNvSpPr>
          <p:nvPr/>
        </p:nvSpPr>
        <p:spPr>
          <a:xfrm>
            <a:off x="781050" y="3390900"/>
            <a:ext cx="323850" cy="323850"/>
          </a:xfrm>
          <a:prstGeom prst="roundRect">
            <a:avLst>
              <a:gd name="adj" fmla="val 5882"/>
            </a:avLst>
          </a:prstGeom>
          <a:solidFill>
            <a:srgbClr val="111C31"/>
          </a:solidFill>
          <a:ln w="19050">
            <a:solidFill>
              <a:srgbClr val="25C4DD"/>
            </a:solidFill>
            <a:prstDash val="solid"/>
          </a:ln>
        </p:spPr>
      </p:sp>
      <p:sp>
        <p:nvSpPr>
          <p:cNvPr id="16" name="Rectangle 15"/>
          <p:cNvSpPr>
            <a:spLocks noGrp="1"/>
          </p:cNvSpPr>
          <p:nvPr/>
        </p:nvSpPr>
        <p:spPr>
          <a:xfrm>
            <a:off x="781050" y="3390900"/>
            <a:ext cx="323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275" b="1">
                <a:solidFill>
                  <a:srgbClr val="25C4DD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1">
                <a:solidFill>
                  <a:srgbClr val="25C4DD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3</a:t>
            </a:r>
            <a:endParaRPr sz="1275" b="1">
              <a:solidFill>
                <a:srgbClr val="25C4DD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7" name="Rectangle 16"/>
          <p:cNvSpPr>
            <a:spLocks noGrp="1"/>
          </p:cNvSpPr>
          <p:nvPr/>
        </p:nvSpPr>
        <p:spPr>
          <a:xfrm>
            <a:off x="1257300" y="3362325"/>
            <a:ext cx="4476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77422"/>
          </a:bodyPr>
          <a:lstStyle/>
          <a:p>
            <a:pPr algn="l">
              <a:lnSpc>
                <a:spcPct val="100000"/>
              </a:lnSpc>
              <a:buNone/>
              <a:defRPr sz="1500" b="1">
                <a:solidFill>
                  <a:srgbClr val="F8FAFC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00" b="1">
                <a:solidFill>
                  <a:srgbClr val="F8FAFC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Using the ModelSim FPGA Simulator with Verilog Testbenches</a:t>
            </a:r>
            <a:endParaRPr sz="1500" b="1">
              <a:solidFill>
                <a:srgbClr val="F8FAFC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8" name="Rectangle 17"/>
          <p:cNvSpPr>
            <a:spLocks noGrp="1"/>
          </p:cNvSpPr>
          <p:nvPr/>
        </p:nvSpPr>
        <p:spPr>
          <a:xfrm>
            <a:off x="1257300" y="3648075"/>
            <a:ext cx="9429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00" b="0">
                <a:solidFill>
                  <a:srgbClr val="E6E9E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00" b="0">
                <a:solidFill>
                  <a:srgbClr val="E6E9E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Explains the DUT/testbench simulation workflow in ModelSim.</a:t>
            </a:r>
            <a:endParaRPr sz="1200" b="0">
              <a:solidFill>
                <a:srgbClr val="E6E9E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9" name="Rounded Rectangle 18"/>
          <p:cNvSpPr>
            <a:spLocks noGrp="1"/>
          </p:cNvSpPr>
          <p:nvPr/>
        </p:nvSpPr>
        <p:spPr>
          <a:xfrm>
            <a:off x="781050" y="4324350"/>
            <a:ext cx="323850" cy="323850"/>
          </a:xfrm>
          <a:prstGeom prst="roundRect">
            <a:avLst>
              <a:gd name="adj" fmla="val 5882"/>
            </a:avLst>
          </a:prstGeom>
          <a:solidFill>
            <a:srgbClr val="111C31"/>
          </a:solidFill>
          <a:ln w="19050">
            <a:solidFill>
              <a:srgbClr val="25C4DD"/>
            </a:solidFill>
            <a:prstDash val="solid"/>
          </a:ln>
        </p:spPr>
      </p:sp>
      <p:sp>
        <p:nvSpPr>
          <p:cNvPr id="20" name="Rectangle 19"/>
          <p:cNvSpPr>
            <a:spLocks noGrp="1"/>
          </p:cNvSpPr>
          <p:nvPr/>
        </p:nvSpPr>
        <p:spPr>
          <a:xfrm>
            <a:off x="781050" y="4324350"/>
            <a:ext cx="323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275" b="1">
                <a:solidFill>
                  <a:srgbClr val="25C4DD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1">
                <a:solidFill>
                  <a:srgbClr val="25C4DD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4</a:t>
            </a:r>
            <a:endParaRPr sz="1275" b="1">
              <a:solidFill>
                <a:srgbClr val="25C4DD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1" name="Rectangle 20"/>
          <p:cNvSpPr>
            <a:spLocks noGrp="1"/>
          </p:cNvSpPr>
          <p:nvPr/>
        </p:nvSpPr>
        <p:spPr>
          <a:xfrm>
            <a:off x="1257300" y="4295775"/>
            <a:ext cx="4476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93437"/>
          </a:bodyPr>
          <a:lstStyle/>
          <a:p>
            <a:pPr algn="l">
              <a:lnSpc>
                <a:spcPct val="100000"/>
              </a:lnSpc>
              <a:buNone/>
              <a:defRPr sz="1500" b="1">
                <a:solidFill>
                  <a:srgbClr val="F8FAFC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00" b="1">
                <a:solidFill>
                  <a:srgbClr val="F8FAFC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Research and Design of a Matrix Multiplier on FPGA</a:t>
            </a:r>
            <a:endParaRPr sz="1500" b="1">
              <a:solidFill>
                <a:srgbClr val="F8FAFC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2" name="Rectangle 21"/>
          <p:cNvSpPr>
            <a:spLocks noGrp="1"/>
          </p:cNvSpPr>
          <p:nvPr/>
        </p:nvSpPr>
        <p:spPr>
          <a:xfrm>
            <a:off x="1257300" y="4581525"/>
            <a:ext cx="9429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00" b="0">
                <a:solidFill>
                  <a:srgbClr val="E6E9E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00" b="0">
                <a:solidFill>
                  <a:srgbClr val="E6E9E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Provides context on FPGA multiplier architecture, resource use, and performance optimization.</a:t>
            </a:r>
            <a:endParaRPr sz="1200" b="0">
              <a:solidFill>
                <a:srgbClr val="E6E9E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3" name="Rounded Rectangle 22"/>
          <p:cNvSpPr>
            <a:spLocks noGrp="1"/>
          </p:cNvSpPr>
          <p:nvPr/>
        </p:nvSpPr>
        <p:spPr>
          <a:xfrm>
            <a:off x="781050" y="5257800"/>
            <a:ext cx="323850" cy="323850"/>
          </a:xfrm>
          <a:prstGeom prst="roundRect">
            <a:avLst>
              <a:gd name="adj" fmla="val 5882"/>
            </a:avLst>
          </a:prstGeom>
          <a:solidFill>
            <a:srgbClr val="111C31"/>
          </a:solidFill>
          <a:ln w="19050">
            <a:solidFill>
              <a:srgbClr val="25C4DD"/>
            </a:solidFill>
            <a:prstDash val="solid"/>
          </a:ln>
        </p:spPr>
      </p:sp>
      <p:sp>
        <p:nvSpPr>
          <p:cNvPr id="24" name="Rectangle 23"/>
          <p:cNvSpPr>
            <a:spLocks noGrp="1"/>
          </p:cNvSpPr>
          <p:nvPr/>
        </p:nvSpPr>
        <p:spPr>
          <a:xfrm>
            <a:off x="781050" y="5257800"/>
            <a:ext cx="323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275" b="1">
                <a:solidFill>
                  <a:srgbClr val="25C4DD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1">
                <a:solidFill>
                  <a:srgbClr val="25C4DD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5</a:t>
            </a:r>
            <a:endParaRPr sz="1275" b="1">
              <a:solidFill>
                <a:srgbClr val="25C4DD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5" name="Rectangle 24"/>
          <p:cNvSpPr>
            <a:spLocks noGrp="1"/>
          </p:cNvSpPr>
          <p:nvPr/>
        </p:nvSpPr>
        <p:spPr>
          <a:xfrm>
            <a:off x="1257300" y="5229225"/>
            <a:ext cx="4476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500" b="1">
                <a:solidFill>
                  <a:srgbClr val="F8FAFC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00" b="1">
                <a:solidFill>
                  <a:srgbClr val="F8FAFC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Project design notes</a:t>
            </a:r>
            <a:endParaRPr sz="1500" b="1">
              <a:solidFill>
                <a:srgbClr val="F8FAFC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6" name="Rectangle 25"/>
          <p:cNvSpPr>
            <a:spLocks noGrp="1"/>
          </p:cNvSpPr>
          <p:nvPr/>
        </p:nvSpPr>
        <p:spPr>
          <a:xfrm>
            <a:off x="1257300" y="5514975"/>
            <a:ext cx="9429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00" b="0">
                <a:solidFill>
                  <a:srgbClr val="E6E9E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00" b="0">
                <a:solidFill>
                  <a:srgbClr val="E6E9E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Signed 8-bit inputs, 17-bit outputs, parallel/sequential architectures, and the Python + Verilog + ModelSim workflow.</a:t>
            </a:r>
            <a:endParaRPr sz="1200" b="0">
              <a:solidFill>
                <a:srgbClr val="E6E9E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2597</Words>
  <Application>WPS Presentation</Application>
  <PresentationFormat>Converted Presentation</PresentationFormat>
  <Paragraphs>205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5" baseType="lpstr">
      <vt:lpstr>Arial</vt:lpstr>
      <vt:lpstr>SimSun</vt:lpstr>
      <vt:lpstr>Wingdings</vt:lpstr>
      <vt:lpstr>Arial</vt:lpstr>
      <vt:lpstr>Courier New</vt:lpstr>
      <vt:lpstr>Calibri</vt:lpstr>
      <vt:lpstr>Microsoft YaHei</vt:lpstr>
      <vt:lpstr>Arial Unicode MS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Asus</cp:lastModifiedBy>
  <cp:revision>1</cp:revision>
  <dcterms:created xsi:type="dcterms:W3CDTF">2026-07-19T16:57:30Z</dcterms:created>
  <dcterms:modified xsi:type="dcterms:W3CDTF">2026-07-19T16:57:30Z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642D840E10E948C788A2100FC0C95F27_12</vt:lpwstr>
  </property>
  <property fmtid="{D5CDD505-2E9C-101B-9397-08002B2CF9AE}" pid="3" name="KSOProductBuildVer">
    <vt:lpwstr>1033-12.1.0.27458</vt:lpwstr>
  </property>
</Properties>
</file>